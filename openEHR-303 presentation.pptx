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1"/>
  </p:sldMasterIdLst>
  <p:notesMasterIdLst>
    <p:notesMasterId r:id="rId25"/>
  </p:notesMasterIdLst>
  <p:sldIdLst>
    <p:sldId id="256" r:id="rId2"/>
    <p:sldId id="313" r:id="rId3"/>
    <p:sldId id="314" r:id="rId4"/>
    <p:sldId id="315" r:id="rId5"/>
    <p:sldId id="317" r:id="rId6"/>
    <p:sldId id="260" r:id="rId7"/>
    <p:sldId id="319" r:id="rId8"/>
    <p:sldId id="320" r:id="rId9"/>
    <p:sldId id="321" r:id="rId10"/>
    <p:sldId id="322" r:id="rId11"/>
    <p:sldId id="323" r:id="rId12"/>
    <p:sldId id="324" r:id="rId13"/>
    <p:sldId id="325" r:id="rId14"/>
    <p:sldId id="326" r:id="rId15"/>
    <p:sldId id="327" r:id="rId16"/>
    <p:sldId id="328" r:id="rId17"/>
    <p:sldId id="329" r:id="rId18"/>
    <p:sldId id="330" r:id="rId19"/>
    <p:sldId id="331" r:id="rId20"/>
    <p:sldId id="259" r:id="rId21"/>
    <p:sldId id="265" r:id="rId22"/>
    <p:sldId id="334" r:id="rId23"/>
    <p:sldId id="335"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4F0FF1-9BCB-4F77-A7EB-CB2CC291F9E9}">
  <a:tblStyle styleId="{5D4F0FF1-9BCB-4F77-A7EB-CB2CC291F9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975" autoAdjust="0"/>
  </p:normalViewPr>
  <p:slideViewPr>
    <p:cSldViewPr snapToGrid="0">
      <p:cViewPr>
        <p:scale>
          <a:sx n="117" d="100"/>
          <a:sy n="117" d="100"/>
        </p:scale>
        <p:origin x="494" y="-11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d313741446_0_1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d313741446_0_1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3834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d313864b49_1_1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d313864b49_1_1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7289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d313864b49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d313864b49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3127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d313741446_0_14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d313741446_0_1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6371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d313864b49_1_1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d313864b49_1_1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8141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1201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d313741446_0_1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d313741446_0_1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928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1979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8571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d313864b49_1_1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d313864b49_1_1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8031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905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25960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4482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6505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d313864b49_1_4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d313864b49_1_4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8480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064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57432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d313864b49_1_4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d313864b49_1_4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d313864b49_1_4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d313864b49_1_4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4539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d313864b49_1_4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d313864b49_1_4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4294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94075" y="1119250"/>
            <a:ext cx="4371000" cy="240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200"/>
              <a:buNone/>
              <a:defRPr sz="48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401375" y="3695341"/>
            <a:ext cx="2756400" cy="70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861625" y="-120072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20000" y="1839825"/>
            <a:ext cx="3739200" cy="19155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20000" y="674750"/>
            <a:ext cx="1056900" cy="10611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720000" y="3755325"/>
            <a:ext cx="32205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6" name="Google Shape;16;p3"/>
          <p:cNvGrpSpPr/>
          <p:nvPr/>
        </p:nvGrpSpPr>
        <p:grpSpPr>
          <a:xfrm rot="10800000">
            <a:off x="-962314" y="1220013"/>
            <a:ext cx="3995951" cy="564600"/>
            <a:chOff x="1524913" y="922950"/>
            <a:chExt cx="6094175" cy="564600"/>
          </a:xfrm>
        </p:grpSpPr>
        <p:cxnSp>
          <p:nvCxnSpPr>
            <p:cNvPr id="17" name="Google Shape;17;p3"/>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18" name="Google Shape;18;p3"/>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a:endParaRPr/>
          </a:p>
        </p:txBody>
      </p:sp>
      <p:sp>
        <p:nvSpPr>
          <p:cNvPr id="22" name="Google Shape;22;p4"/>
          <p:cNvSpPr/>
          <p:nvPr/>
        </p:nvSpPr>
        <p:spPr>
          <a:xfrm>
            <a:off x="-1258975" y="10177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a:off x="6265625" y="45134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1991650" y="1354713"/>
            <a:ext cx="5183700" cy="1729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10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7"/>
          <p:cNvSpPr txBox="1">
            <a:spLocks noGrp="1"/>
          </p:cNvSpPr>
          <p:nvPr>
            <p:ph type="subTitle" idx="1"/>
          </p:nvPr>
        </p:nvSpPr>
        <p:spPr>
          <a:xfrm>
            <a:off x="2147050" y="3014563"/>
            <a:ext cx="4872900" cy="80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 name="Google Shape;41;p7"/>
          <p:cNvSpPr/>
          <p:nvPr/>
        </p:nvSpPr>
        <p:spPr>
          <a:xfrm>
            <a:off x="-617962" y="43267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7"/>
          <p:cNvGrpSpPr/>
          <p:nvPr/>
        </p:nvGrpSpPr>
        <p:grpSpPr>
          <a:xfrm rot="10800000">
            <a:off x="2574011" y="3989325"/>
            <a:ext cx="3995951" cy="564600"/>
            <a:chOff x="1524913" y="922950"/>
            <a:chExt cx="6094175" cy="564600"/>
          </a:xfrm>
        </p:grpSpPr>
        <p:cxnSp>
          <p:nvCxnSpPr>
            <p:cNvPr id="43" name="Google Shape;43;p7"/>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44" name="Google Shape;44;p7"/>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grpSp>
        <p:nvGrpSpPr>
          <p:cNvPr id="45" name="Google Shape;45;p7"/>
          <p:cNvGrpSpPr/>
          <p:nvPr/>
        </p:nvGrpSpPr>
        <p:grpSpPr>
          <a:xfrm>
            <a:off x="2574011" y="589575"/>
            <a:ext cx="3995951" cy="564600"/>
            <a:chOff x="1524913" y="922950"/>
            <a:chExt cx="6094175" cy="564600"/>
          </a:xfrm>
        </p:grpSpPr>
        <p:cxnSp>
          <p:nvCxnSpPr>
            <p:cNvPr id="46" name="Google Shape;46;p7"/>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47" name="Google Shape;47;p7"/>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
        <p:nvSpPr>
          <p:cNvPr id="48" name="Google Shape;48;p7"/>
          <p:cNvSpPr/>
          <p:nvPr/>
        </p:nvSpPr>
        <p:spPr>
          <a:xfrm>
            <a:off x="7988313" y="-1162501"/>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91450" y="1307100"/>
            <a:ext cx="7361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1" name="Google Shape;51;p8"/>
          <p:cNvSpPr/>
          <p:nvPr/>
        </p:nvSpPr>
        <p:spPr>
          <a:xfrm>
            <a:off x="3685200" y="-134432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8"/>
          <p:cNvSpPr/>
          <p:nvPr/>
        </p:nvSpPr>
        <p:spPr>
          <a:xfrm>
            <a:off x="3685200" y="45134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
  <p:cSld name="CUSTOM_8">
    <p:spTree>
      <p:nvGrpSpPr>
        <p:cNvPr id="1" name="Shape 85"/>
        <p:cNvGrpSpPr/>
        <p:nvPr/>
      </p:nvGrpSpPr>
      <p:grpSpPr>
        <a:xfrm>
          <a:off x="0" y="0"/>
          <a:ext cx="0" cy="0"/>
          <a:chOff x="0" y="0"/>
          <a:chExt cx="0" cy="0"/>
        </a:xfrm>
      </p:grpSpPr>
      <p:sp>
        <p:nvSpPr>
          <p:cNvPr id="86" name="Google Shape;86;p15"/>
          <p:cNvSpPr txBox="1">
            <a:spLocks noGrp="1"/>
          </p:cNvSpPr>
          <p:nvPr>
            <p:ph type="subTitle" idx="1"/>
          </p:nvPr>
        </p:nvSpPr>
        <p:spPr>
          <a:xfrm>
            <a:off x="1309200" y="3487862"/>
            <a:ext cx="6525600" cy="88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7" name="Google Shape;87;p1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8" name="Google Shape;88;p15"/>
          <p:cNvSpPr/>
          <p:nvPr/>
        </p:nvSpPr>
        <p:spPr>
          <a:xfrm>
            <a:off x="-617962" y="13275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7988313" y="13275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4">
  <p:cSld name="CUSTOM_9_1">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720000" y="1427700"/>
            <a:ext cx="56574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3" name="Google Shape;113;p18"/>
          <p:cNvSpPr txBox="1">
            <a:spLocks noGrp="1"/>
          </p:cNvSpPr>
          <p:nvPr>
            <p:ph type="body" idx="1"/>
          </p:nvPr>
        </p:nvSpPr>
        <p:spPr>
          <a:xfrm>
            <a:off x="720000" y="2214000"/>
            <a:ext cx="5163000" cy="1501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CUSTOM_10">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1" name="Google Shape;121;p20"/>
          <p:cNvSpPr/>
          <p:nvPr/>
        </p:nvSpPr>
        <p:spPr>
          <a:xfrm>
            <a:off x="-825000" y="-586751"/>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0"/>
          <p:cNvSpPr/>
          <p:nvPr/>
        </p:nvSpPr>
        <p:spPr>
          <a:xfrm>
            <a:off x="7907150" y="356027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4">
  <p:cSld name="CUSTOM_10_1_1">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9" name="Google Shape;129;p22"/>
          <p:cNvSpPr/>
          <p:nvPr/>
        </p:nvSpPr>
        <p:spPr>
          <a:xfrm>
            <a:off x="-916400" y="4464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2"/>
          <p:cNvSpPr/>
          <p:nvPr/>
        </p:nvSpPr>
        <p:spPr>
          <a:xfrm>
            <a:off x="8283777" y="352814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7">
  <p:cSld name="CUSTOM_11">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0" name="Google Shape;140;p25"/>
          <p:cNvSpPr/>
          <p:nvPr/>
        </p:nvSpPr>
        <p:spPr>
          <a:xfrm>
            <a:off x="665802" y="45584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5"/>
          <p:cNvSpPr/>
          <p:nvPr/>
        </p:nvSpPr>
        <p:spPr>
          <a:xfrm>
            <a:off x="6812003" y="-107485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72"/>
        <p:cNvGrpSpPr/>
        <p:nvPr/>
      </p:nvGrpSpPr>
      <p:grpSpPr>
        <a:xfrm>
          <a:off x="0" y="0"/>
          <a:ext cx="0" cy="0"/>
          <a:chOff x="0" y="0"/>
          <a:chExt cx="0" cy="0"/>
        </a:xfrm>
      </p:grpSpPr>
      <p:sp>
        <p:nvSpPr>
          <p:cNvPr id="173" name="Google Shape;173;p3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74" name="Google Shape;174;p33"/>
          <p:cNvSpPr txBox="1">
            <a:spLocks noGrp="1"/>
          </p:cNvSpPr>
          <p:nvPr>
            <p:ph type="title" idx="2"/>
          </p:nvPr>
        </p:nvSpPr>
        <p:spPr>
          <a:xfrm>
            <a:off x="1194250" y="3052601"/>
            <a:ext cx="2088600" cy="35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5" name="Google Shape;175;p33"/>
          <p:cNvSpPr txBox="1">
            <a:spLocks noGrp="1"/>
          </p:cNvSpPr>
          <p:nvPr>
            <p:ph type="subTitle" idx="1"/>
          </p:nvPr>
        </p:nvSpPr>
        <p:spPr>
          <a:xfrm>
            <a:off x="1079200" y="3458663"/>
            <a:ext cx="2318700" cy="48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6" name="Google Shape;176;p33"/>
          <p:cNvSpPr txBox="1">
            <a:spLocks noGrp="1"/>
          </p:cNvSpPr>
          <p:nvPr>
            <p:ph type="title" idx="3"/>
          </p:nvPr>
        </p:nvSpPr>
        <p:spPr>
          <a:xfrm>
            <a:off x="3518499" y="3052601"/>
            <a:ext cx="2088600" cy="35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7" name="Google Shape;177;p33"/>
          <p:cNvSpPr txBox="1">
            <a:spLocks noGrp="1"/>
          </p:cNvSpPr>
          <p:nvPr>
            <p:ph type="subTitle" idx="4"/>
          </p:nvPr>
        </p:nvSpPr>
        <p:spPr>
          <a:xfrm>
            <a:off x="3403449" y="3458663"/>
            <a:ext cx="2318700" cy="48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78" name="Google Shape;178;p33"/>
          <p:cNvSpPr txBox="1">
            <a:spLocks noGrp="1"/>
          </p:cNvSpPr>
          <p:nvPr>
            <p:ph type="title" idx="5"/>
          </p:nvPr>
        </p:nvSpPr>
        <p:spPr>
          <a:xfrm>
            <a:off x="5861150" y="3052601"/>
            <a:ext cx="2088600" cy="354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179" name="Google Shape;179;p33"/>
          <p:cNvSpPr txBox="1">
            <a:spLocks noGrp="1"/>
          </p:cNvSpPr>
          <p:nvPr>
            <p:ph type="subTitle" idx="6"/>
          </p:nvPr>
        </p:nvSpPr>
        <p:spPr>
          <a:xfrm>
            <a:off x="5746100" y="3458663"/>
            <a:ext cx="2318700" cy="48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0" name="Google Shape;180;p33"/>
          <p:cNvSpPr/>
          <p:nvPr/>
        </p:nvSpPr>
        <p:spPr>
          <a:xfrm>
            <a:off x="-1028775" y="2671469"/>
            <a:ext cx="1701372"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3"/>
          <p:cNvSpPr/>
          <p:nvPr/>
        </p:nvSpPr>
        <p:spPr>
          <a:xfrm>
            <a:off x="8456830" y="355275"/>
            <a:ext cx="1701372"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32">
    <p:spTree>
      <p:nvGrpSpPr>
        <p:cNvPr id="1" name="Shape 212"/>
        <p:cNvGrpSpPr/>
        <p:nvPr/>
      </p:nvGrpSpPr>
      <p:grpSpPr>
        <a:xfrm>
          <a:off x="0" y="0"/>
          <a:ext cx="0" cy="0"/>
          <a:chOff x="0" y="0"/>
          <a:chExt cx="0" cy="0"/>
        </a:xfrm>
      </p:grpSpPr>
      <p:sp>
        <p:nvSpPr>
          <p:cNvPr id="213" name="Google Shape;213;p38"/>
          <p:cNvSpPr/>
          <p:nvPr/>
        </p:nvSpPr>
        <p:spPr>
          <a:xfrm>
            <a:off x="-617962" y="43267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38"/>
          <p:cNvGrpSpPr/>
          <p:nvPr/>
        </p:nvGrpSpPr>
        <p:grpSpPr>
          <a:xfrm rot="10800000">
            <a:off x="2574011" y="4162663"/>
            <a:ext cx="3995951" cy="564600"/>
            <a:chOff x="1524913" y="922950"/>
            <a:chExt cx="6094175" cy="564600"/>
          </a:xfrm>
        </p:grpSpPr>
        <p:cxnSp>
          <p:nvCxnSpPr>
            <p:cNvPr id="215" name="Google Shape;215;p38"/>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216" name="Google Shape;216;p38"/>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grpSp>
        <p:nvGrpSpPr>
          <p:cNvPr id="217" name="Google Shape;217;p38"/>
          <p:cNvGrpSpPr/>
          <p:nvPr/>
        </p:nvGrpSpPr>
        <p:grpSpPr>
          <a:xfrm>
            <a:off x="2574011" y="762913"/>
            <a:ext cx="3995951" cy="564600"/>
            <a:chOff x="1524913" y="922950"/>
            <a:chExt cx="6094175" cy="564600"/>
          </a:xfrm>
        </p:grpSpPr>
        <p:cxnSp>
          <p:nvCxnSpPr>
            <p:cNvPr id="218" name="Google Shape;218;p38"/>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219" name="Google Shape;219;p38"/>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
        <p:nvSpPr>
          <p:cNvPr id="220" name="Google Shape;220;p38"/>
          <p:cNvSpPr/>
          <p:nvPr/>
        </p:nvSpPr>
        <p:spPr>
          <a:xfrm>
            <a:off x="7988313" y="-1162501"/>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32_1">
    <p:spTree>
      <p:nvGrpSpPr>
        <p:cNvPr id="1" name="Shape 221"/>
        <p:cNvGrpSpPr/>
        <p:nvPr/>
      </p:nvGrpSpPr>
      <p:grpSpPr>
        <a:xfrm>
          <a:off x="0" y="0"/>
          <a:ext cx="0" cy="0"/>
          <a:chOff x="0" y="0"/>
          <a:chExt cx="0" cy="0"/>
        </a:xfrm>
      </p:grpSpPr>
      <p:sp>
        <p:nvSpPr>
          <p:cNvPr id="222" name="Google Shape;222;p39"/>
          <p:cNvSpPr/>
          <p:nvPr/>
        </p:nvSpPr>
        <p:spPr>
          <a:xfrm>
            <a:off x="576927" y="412524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9"/>
          <p:cNvSpPr/>
          <p:nvPr/>
        </p:nvSpPr>
        <p:spPr>
          <a:xfrm>
            <a:off x="6812003" y="-1074856"/>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4" name="Google Shape;224;p39"/>
          <p:cNvCxnSpPr/>
          <p:nvPr/>
        </p:nvCxnSpPr>
        <p:spPr>
          <a:xfrm>
            <a:off x="2572500" y="4748213"/>
            <a:ext cx="3999000" cy="0"/>
          </a:xfrm>
          <a:prstGeom prst="straightConnector1">
            <a:avLst/>
          </a:prstGeom>
          <a:noFill/>
          <a:ln w="19050" cap="flat" cmpd="sng">
            <a:solidFill>
              <a:srgbClr val="DADACE"/>
            </a:solidFill>
            <a:prstDash val="solid"/>
            <a:round/>
            <a:headEnd type="none" w="med" len="med"/>
            <a:tailEnd type="none" w="med" len="med"/>
          </a:ln>
        </p:spPr>
      </p:cxnSp>
      <p:cxnSp>
        <p:nvCxnSpPr>
          <p:cNvPr id="225" name="Google Shape;225;p39"/>
          <p:cNvCxnSpPr/>
          <p:nvPr/>
        </p:nvCxnSpPr>
        <p:spPr>
          <a:xfrm>
            <a:off x="2572500" y="374619"/>
            <a:ext cx="3999000" cy="0"/>
          </a:xfrm>
          <a:prstGeom prst="straightConnector1">
            <a:avLst/>
          </a:prstGeom>
          <a:noFill/>
          <a:ln w="19050" cap="flat" cmpd="sng">
            <a:solidFill>
              <a:srgbClr val="DADACE"/>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1pPr>
            <a:lvl2pPr lvl="1"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2pPr>
            <a:lvl3pPr lvl="2"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3pPr>
            <a:lvl4pPr lvl="3"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4pPr>
            <a:lvl5pPr lvl="4"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5pPr>
            <a:lvl6pPr lvl="5"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6pPr>
            <a:lvl7pPr lvl="6"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7pPr>
            <a:lvl8pPr lvl="7"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8pPr>
            <a:lvl9pPr lvl="8" rtl="0">
              <a:spcBef>
                <a:spcPts val="0"/>
              </a:spcBef>
              <a:spcAft>
                <a:spcPts val="0"/>
              </a:spcAft>
              <a:buClr>
                <a:schemeClr val="dk1"/>
              </a:buClr>
              <a:buSzPts val="2800"/>
              <a:buFont typeface="Prata"/>
              <a:buNone/>
              <a:defRPr sz="2800" b="1">
                <a:solidFill>
                  <a:schemeClr val="dk1"/>
                </a:solidFill>
                <a:latin typeface="Prata"/>
                <a:ea typeface="Prata"/>
                <a:cs typeface="Prata"/>
                <a:sym typeface="Prat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Exo"/>
              <a:buChar char="●"/>
              <a:defRPr>
                <a:solidFill>
                  <a:schemeClr val="dk1"/>
                </a:solidFill>
                <a:latin typeface="Exo"/>
                <a:ea typeface="Exo"/>
                <a:cs typeface="Exo"/>
                <a:sym typeface="Exo"/>
              </a:defRPr>
            </a:lvl1pPr>
            <a:lvl2pPr marL="914400" lvl="1"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2pPr>
            <a:lvl3pPr marL="1371600" lvl="2"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3pPr>
            <a:lvl4pPr marL="1828800" lvl="3"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4pPr>
            <a:lvl5pPr marL="2286000" lvl="4"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5pPr>
            <a:lvl6pPr marL="2743200" lvl="5"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6pPr>
            <a:lvl7pPr marL="3200400" lvl="6"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7pPr>
            <a:lvl8pPr marL="3657600" lvl="7" indent="-317500">
              <a:lnSpc>
                <a:spcPct val="100000"/>
              </a:lnSpc>
              <a:spcBef>
                <a:spcPts val="1600"/>
              </a:spcBef>
              <a:spcAft>
                <a:spcPts val="0"/>
              </a:spcAft>
              <a:buClr>
                <a:schemeClr val="dk1"/>
              </a:buClr>
              <a:buSzPts val="1400"/>
              <a:buFont typeface="Exo"/>
              <a:buChar char="○"/>
              <a:defRPr>
                <a:solidFill>
                  <a:schemeClr val="dk1"/>
                </a:solidFill>
                <a:latin typeface="Exo"/>
                <a:ea typeface="Exo"/>
                <a:cs typeface="Exo"/>
                <a:sym typeface="Exo"/>
              </a:defRPr>
            </a:lvl8pPr>
            <a:lvl9pPr marL="4114800" lvl="8" indent="-317500">
              <a:lnSpc>
                <a:spcPct val="100000"/>
              </a:lnSpc>
              <a:spcBef>
                <a:spcPts val="1600"/>
              </a:spcBef>
              <a:spcAft>
                <a:spcPts val="1600"/>
              </a:spcAft>
              <a:buClr>
                <a:schemeClr val="dk1"/>
              </a:buClr>
              <a:buSzPts val="1400"/>
              <a:buFont typeface="Exo"/>
              <a:buChar char="■"/>
              <a:defRPr>
                <a:solidFill>
                  <a:schemeClr val="dk1"/>
                </a:solidFill>
                <a:latin typeface="Exo"/>
                <a:ea typeface="Exo"/>
                <a:cs typeface="Exo"/>
                <a:sym typeface="Ex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8" r:id="rId6"/>
    <p:sldLayoutId id="2147483661" r:id="rId7"/>
    <p:sldLayoutId id="2147483664" r:id="rId8"/>
    <p:sldLayoutId id="2147483666" r:id="rId9"/>
    <p:sldLayoutId id="2147483668" r:id="rId10"/>
    <p:sldLayoutId id="2147483671" r:id="rId11"/>
    <p:sldLayoutId id="2147483679" r:id="rId12"/>
    <p:sldLayoutId id="2147483684" r:id="rId13"/>
    <p:sldLayoutId id="214748368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2"/>
          <p:cNvSpPr txBox="1">
            <a:spLocks noGrp="1"/>
          </p:cNvSpPr>
          <p:nvPr>
            <p:ph type="ctrTitle"/>
          </p:nvPr>
        </p:nvSpPr>
        <p:spPr>
          <a:xfrm>
            <a:off x="455847" y="1119250"/>
            <a:ext cx="4424493" cy="240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b="0" i="0" dirty="0">
                <a:solidFill>
                  <a:srgbClr val="000000"/>
                </a:solidFill>
                <a:effectLst/>
              </a:rPr>
              <a:t>Modeling EHR with the </a:t>
            </a:r>
            <a:r>
              <a:rPr lang="en-US" sz="2800" i="0" dirty="0">
                <a:solidFill>
                  <a:srgbClr val="000000"/>
                </a:solidFill>
                <a:effectLst/>
              </a:rPr>
              <a:t>openEHR</a:t>
            </a:r>
            <a:r>
              <a:rPr lang="en-US" sz="2800" b="0" dirty="0">
                <a:solidFill>
                  <a:srgbClr val="000000"/>
                </a:solidFill>
              </a:rPr>
              <a:t> </a:t>
            </a:r>
            <a:r>
              <a:rPr lang="en-US" sz="2800" b="0" i="0" dirty="0">
                <a:solidFill>
                  <a:srgbClr val="000000"/>
                </a:solidFill>
                <a:effectLst/>
              </a:rPr>
              <a:t>approach</a:t>
            </a:r>
            <a:endParaRPr sz="6600" dirty="0"/>
          </a:p>
        </p:txBody>
      </p:sp>
      <p:pic>
        <p:nvPicPr>
          <p:cNvPr id="235" name="Google Shape;235;p42"/>
          <p:cNvPicPr preferRelativeResize="0"/>
          <p:nvPr/>
        </p:nvPicPr>
        <p:blipFill rotWithShape="1">
          <a:blip r:embed="rId3">
            <a:alphaModFix/>
          </a:blip>
          <a:srcRect l="9600" t="23369" r="36095" b="22744"/>
          <a:stretch/>
        </p:blipFill>
        <p:spPr>
          <a:xfrm>
            <a:off x="4572000" y="606750"/>
            <a:ext cx="4572000" cy="4536750"/>
          </a:xfrm>
          <a:prstGeom prst="rect">
            <a:avLst/>
          </a:prstGeom>
          <a:noFill/>
          <a:ln>
            <a:noFill/>
          </a:ln>
        </p:spPr>
      </p:pic>
      <p:sp>
        <p:nvSpPr>
          <p:cNvPr id="236" name="Google Shape;236;p42"/>
          <p:cNvSpPr/>
          <p:nvPr/>
        </p:nvSpPr>
        <p:spPr>
          <a:xfrm>
            <a:off x="777837" y="3203616"/>
            <a:ext cx="4003500" cy="823496"/>
          </a:xfrm>
          <a:prstGeom prst="roundRect">
            <a:avLst>
              <a:gd name="adj" fmla="val 50000"/>
            </a:avLst>
          </a:prstGeom>
          <a:noFill/>
          <a:ln w="19050" cap="flat" cmpd="sng">
            <a:solidFill>
              <a:srgbClr val="DADA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2"/>
          <p:cNvSpPr txBox="1">
            <a:spLocks noGrp="1"/>
          </p:cNvSpPr>
          <p:nvPr>
            <p:ph type="subTitle" idx="1"/>
          </p:nvPr>
        </p:nvSpPr>
        <p:spPr>
          <a:xfrm>
            <a:off x="1401375" y="3174345"/>
            <a:ext cx="2756400" cy="823496"/>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a:solidFill>
                  <a:srgbClr val="000000"/>
                </a:solidFill>
              </a:rPr>
              <a:t>A</a:t>
            </a:r>
            <a:r>
              <a:rPr lang="en-US" sz="2400" b="0" i="0" dirty="0">
                <a:solidFill>
                  <a:srgbClr val="000000"/>
                </a:solidFill>
                <a:effectLst/>
              </a:rPr>
              <a:t>n exploratory study in </a:t>
            </a:r>
            <a:r>
              <a:rPr lang="en-US" sz="2400" i="0" dirty="0">
                <a:solidFill>
                  <a:srgbClr val="000000"/>
                </a:solidFill>
                <a:effectLst/>
              </a:rPr>
              <a:t>China</a:t>
            </a:r>
            <a:endParaRPr sz="2400" dirty="0"/>
          </a:p>
        </p:txBody>
      </p:sp>
      <p:sp>
        <p:nvSpPr>
          <p:cNvPr id="238" name="Google Shape;238;p42"/>
          <p:cNvSpPr/>
          <p:nvPr/>
        </p:nvSpPr>
        <p:spPr>
          <a:xfrm>
            <a:off x="8548675" y="3328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42"/>
          <p:cNvPicPr preferRelativeResize="0"/>
          <p:nvPr/>
        </p:nvPicPr>
        <p:blipFill rotWithShape="1">
          <a:blip r:embed="rId4">
            <a:alphaModFix/>
          </a:blip>
          <a:srcRect l="60513" t="15763" r="16584" b="61860"/>
          <a:stretch/>
        </p:blipFill>
        <p:spPr>
          <a:xfrm>
            <a:off x="5229750" y="1119250"/>
            <a:ext cx="1094076" cy="1068950"/>
          </a:xfrm>
          <a:prstGeom prst="rect">
            <a:avLst/>
          </a:prstGeom>
          <a:noFill/>
          <a:ln>
            <a:noFill/>
          </a:ln>
        </p:spPr>
      </p:pic>
      <p:cxnSp>
        <p:nvCxnSpPr>
          <p:cNvPr id="240" name="Google Shape;240;p42"/>
          <p:cNvCxnSpPr/>
          <p:nvPr/>
        </p:nvCxnSpPr>
        <p:spPr>
          <a:xfrm>
            <a:off x="777837" y="2997385"/>
            <a:ext cx="3999000" cy="0"/>
          </a:xfrm>
          <a:prstGeom prst="straightConnector1">
            <a:avLst/>
          </a:prstGeom>
          <a:noFill/>
          <a:ln w="19050" cap="flat" cmpd="sng">
            <a:solidFill>
              <a:srgbClr val="DADACE"/>
            </a:solidFill>
            <a:prstDash val="solid"/>
            <a:round/>
            <a:headEnd type="none" w="med" len="med"/>
            <a:tailEnd type="none" w="med" len="med"/>
          </a:ln>
        </p:spPr>
      </p:cxnSp>
      <p:grpSp>
        <p:nvGrpSpPr>
          <p:cNvPr id="241" name="Google Shape;241;p42"/>
          <p:cNvGrpSpPr/>
          <p:nvPr/>
        </p:nvGrpSpPr>
        <p:grpSpPr>
          <a:xfrm>
            <a:off x="781611" y="713513"/>
            <a:ext cx="3995951" cy="564600"/>
            <a:chOff x="1524913" y="922950"/>
            <a:chExt cx="6094175" cy="564600"/>
          </a:xfrm>
        </p:grpSpPr>
        <p:cxnSp>
          <p:nvCxnSpPr>
            <p:cNvPr id="242" name="Google Shape;242;p42"/>
            <p:cNvCxnSpPr/>
            <p:nvPr/>
          </p:nvCxnSpPr>
          <p:spPr>
            <a:xfrm rot="10800000" flipH="1">
              <a:off x="1524913" y="922950"/>
              <a:ext cx="2916000" cy="564600"/>
            </a:xfrm>
            <a:prstGeom prst="curvedConnector3">
              <a:avLst>
                <a:gd name="adj1" fmla="val 50000"/>
              </a:avLst>
            </a:prstGeom>
            <a:noFill/>
            <a:ln w="19050" cap="flat" cmpd="sng">
              <a:solidFill>
                <a:schemeClr val="lt2"/>
              </a:solidFill>
              <a:prstDash val="solid"/>
              <a:round/>
              <a:headEnd type="none" w="med" len="med"/>
              <a:tailEnd type="none" w="med" len="med"/>
            </a:ln>
          </p:spPr>
        </p:cxnSp>
        <p:cxnSp>
          <p:nvCxnSpPr>
            <p:cNvPr id="243" name="Google Shape;243;p42"/>
            <p:cNvCxnSpPr/>
            <p:nvPr/>
          </p:nvCxnSpPr>
          <p:spPr>
            <a:xfrm rot="10800000">
              <a:off x="4437888" y="923225"/>
              <a:ext cx="3181200" cy="563400"/>
            </a:xfrm>
            <a:prstGeom prst="curvedConnector3">
              <a:avLst>
                <a:gd name="adj1" fmla="val 50000"/>
              </a:avLst>
            </a:prstGeom>
            <a:noFill/>
            <a:ln w="19050" cap="flat" cmpd="sng">
              <a:solidFill>
                <a:schemeClr val="lt2"/>
              </a:solidFill>
              <a:prstDash val="solid"/>
              <a:round/>
              <a:headEnd type="none" w="med" len="med"/>
              <a:tailEnd type="none" w="med" len="med"/>
            </a:ln>
          </p:spPr>
        </p:cxnSp>
      </p:grpSp>
      <p:sp>
        <p:nvSpPr>
          <p:cNvPr id="12" name="Google Shape;389;p56">
            <a:extLst>
              <a:ext uri="{FF2B5EF4-FFF2-40B4-BE49-F238E27FC236}">
                <a16:creationId xmlns:a16="http://schemas.microsoft.com/office/drawing/2014/main" id="{AAEE219E-7EA1-4108-B277-0A46299B2963}"/>
              </a:ext>
            </a:extLst>
          </p:cNvPr>
          <p:cNvSpPr txBox="1">
            <a:spLocks/>
          </p:cNvSpPr>
          <p:nvPr/>
        </p:nvSpPr>
        <p:spPr>
          <a:xfrm>
            <a:off x="780768" y="4104091"/>
            <a:ext cx="4280100" cy="7547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Exo"/>
              <a:buNone/>
              <a:defRPr sz="1600" b="0" i="0" u="none" strike="noStrike" cap="none">
                <a:solidFill>
                  <a:schemeClr val="dk1"/>
                </a:solidFill>
                <a:latin typeface="Exo"/>
                <a:ea typeface="Exo"/>
                <a:cs typeface="Exo"/>
                <a:sym typeface="Exo"/>
              </a:defRPr>
            </a:lvl1pPr>
            <a:lvl2pPr marL="914400" marR="0" lvl="1"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2pPr>
            <a:lvl3pPr marL="1371600" marR="0" lvl="2"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3pPr>
            <a:lvl4pPr marL="1828800" marR="0" lvl="3"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4pPr>
            <a:lvl5pPr marL="2286000" marR="0" lvl="4"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5pPr>
            <a:lvl6pPr marL="2743200" marR="0" lvl="5"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6pPr>
            <a:lvl7pPr marL="3200400" marR="0" lvl="6"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7pPr>
            <a:lvl8pPr marL="3657600" marR="0" lvl="7"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8pPr>
            <a:lvl9pPr marL="4114800" marR="0" lvl="8" indent="-317500" algn="ctr" rtl="0">
              <a:lnSpc>
                <a:spcPct val="100000"/>
              </a:lnSpc>
              <a:spcBef>
                <a:spcPts val="0"/>
              </a:spcBef>
              <a:spcAft>
                <a:spcPts val="0"/>
              </a:spcAft>
              <a:buClr>
                <a:schemeClr val="dk1"/>
              </a:buClr>
              <a:buSzPts val="1800"/>
              <a:buFont typeface="Exo"/>
              <a:buNone/>
              <a:defRPr sz="1800" b="0" i="0" u="none" strike="noStrike" cap="none">
                <a:solidFill>
                  <a:schemeClr val="dk1"/>
                </a:solidFill>
                <a:latin typeface="Exo"/>
                <a:ea typeface="Exo"/>
                <a:cs typeface="Exo"/>
                <a:sym typeface="Exo"/>
              </a:defRPr>
            </a:lvl9pPr>
          </a:lstStyle>
          <a:p>
            <a:pPr marL="0" indent="0" algn="l">
              <a:spcBef>
                <a:spcPts val="1600"/>
              </a:spcBef>
              <a:spcAft>
                <a:spcPts val="1600"/>
              </a:spcAft>
            </a:pPr>
            <a:r>
              <a:rPr lang="en-US" sz="1100" dirty="0"/>
              <a:t>By: Mennatullah Mahmoud 18101713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387" name="Google Shape;387;p56"/>
          <p:cNvPicPr preferRelativeResize="0"/>
          <p:nvPr/>
        </p:nvPicPr>
        <p:blipFill rotWithShape="1">
          <a:blip r:embed="rId3">
            <a:alphaModFix/>
          </a:blip>
          <a:srcRect l="19908" t="29118" r="52122" b="26234"/>
          <a:stretch/>
        </p:blipFill>
        <p:spPr>
          <a:xfrm>
            <a:off x="4833075" y="1067850"/>
            <a:ext cx="1821886" cy="2908376"/>
          </a:xfrm>
          <a:prstGeom prst="rect">
            <a:avLst/>
          </a:prstGeom>
          <a:noFill/>
          <a:ln>
            <a:noFill/>
          </a:ln>
        </p:spPr>
      </p:pic>
      <p:sp>
        <p:nvSpPr>
          <p:cNvPr id="388" name="Google Shape;388;p56"/>
          <p:cNvSpPr txBox="1">
            <a:spLocks noGrp="1"/>
          </p:cNvSpPr>
          <p:nvPr>
            <p:ph type="title"/>
          </p:nvPr>
        </p:nvSpPr>
        <p:spPr>
          <a:xfrm>
            <a:off x="720000" y="1427700"/>
            <a:ext cx="5657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389" name="Google Shape;389;p56"/>
          <p:cNvSpPr txBox="1">
            <a:spLocks noGrp="1"/>
          </p:cNvSpPr>
          <p:nvPr>
            <p:ph type="body" idx="1"/>
          </p:nvPr>
        </p:nvSpPr>
        <p:spPr>
          <a:xfrm>
            <a:off x="720000" y="2213999"/>
            <a:ext cx="4280100" cy="23954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OpenEHR is an open standard maintained by the openEHR Foundation, which endeavors to convert health data from a physical form into an electronic form and ensures universal interoperability among electronic data in all forms. </a:t>
            </a:r>
          </a:p>
          <a:p>
            <a:pPr marL="0" lvl="0" indent="0" algn="l" rtl="0">
              <a:spcBef>
                <a:spcPts val="0"/>
              </a:spcBef>
              <a:spcAft>
                <a:spcPts val="0"/>
              </a:spcAft>
              <a:buNone/>
            </a:pPr>
            <a:r>
              <a:rPr lang="en-US" dirty="0"/>
              <a:t>The openEHR approach has three major pillars:</a:t>
            </a:r>
          </a:p>
          <a:p>
            <a:pPr marL="457200" lvl="0" indent="-317500" algn="l" rtl="0">
              <a:spcBef>
                <a:spcPts val="1600"/>
              </a:spcBef>
              <a:spcAft>
                <a:spcPts val="0"/>
              </a:spcAft>
              <a:buSzPts val="1400"/>
              <a:buChar char="●"/>
            </a:pPr>
            <a:r>
              <a:rPr lang="en-US" dirty="0"/>
              <a:t>Reference Model (RM)</a:t>
            </a:r>
          </a:p>
          <a:p>
            <a:pPr marL="457200" lvl="0" indent="-317500" algn="l" rtl="0">
              <a:spcBef>
                <a:spcPts val="0"/>
              </a:spcBef>
              <a:spcAft>
                <a:spcPts val="0"/>
              </a:spcAft>
              <a:buSzPts val="1400"/>
              <a:buChar char="●"/>
            </a:pPr>
            <a:r>
              <a:rPr lang="en-US" dirty="0"/>
              <a:t>Archetype Model (AM)</a:t>
            </a:r>
            <a:endParaRPr dirty="0"/>
          </a:p>
          <a:p>
            <a:pPr marL="457200" lvl="0" indent="-317500" algn="l" rtl="0">
              <a:spcBef>
                <a:spcPts val="0"/>
              </a:spcBef>
              <a:spcAft>
                <a:spcPts val="0"/>
              </a:spcAft>
              <a:buSzPts val="1400"/>
              <a:buChar char="●"/>
            </a:pPr>
            <a:r>
              <a:rPr lang="en-US" dirty="0"/>
              <a:t>Terminologies</a:t>
            </a:r>
            <a:endParaRPr dirty="0"/>
          </a:p>
          <a:p>
            <a:pPr marL="0" lvl="0" indent="0" algn="l" rtl="0">
              <a:spcBef>
                <a:spcPts val="1600"/>
              </a:spcBef>
              <a:spcAft>
                <a:spcPts val="1600"/>
              </a:spcAft>
              <a:buNone/>
            </a:pPr>
            <a:endParaRPr dirty="0"/>
          </a:p>
        </p:txBody>
      </p:sp>
      <p:sp>
        <p:nvSpPr>
          <p:cNvPr id="390" name="Google Shape;390;p56"/>
          <p:cNvSpPr/>
          <p:nvPr/>
        </p:nvSpPr>
        <p:spPr>
          <a:xfrm>
            <a:off x="5214050" y="4473924"/>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1" name="Google Shape;391;p56"/>
          <p:cNvCxnSpPr/>
          <p:nvPr/>
        </p:nvCxnSpPr>
        <p:spPr>
          <a:xfrm>
            <a:off x="618735" y="2057658"/>
            <a:ext cx="2523900" cy="0"/>
          </a:xfrm>
          <a:prstGeom prst="straightConnector1">
            <a:avLst/>
          </a:prstGeom>
          <a:noFill/>
          <a:ln w="19050" cap="flat" cmpd="sng">
            <a:solidFill>
              <a:srgbClr val="DADACE"/>
            </a:solidFill>
            <a:prstDash val="solid"/>
            <a:round/>
            <a:headEnd type="none" w="med" len="med"/>
            <a:tailEnd type="none" w="med" len="med"/>
          </a:ln>
        </p:spPr>
      </p:cxnSp>
      <p:grpSp>
        <p:nvGrpSpPr>
          <p:cNvPr id="392" name="Google Shape;392;p56"/>
          <p:cNvGrpSpPr/>
          <p:nvPr/>
        </p:nvGrpSpPr>
        <p:grpSpPr>
          <a:xfrm>
            <a:off x="618647" y="1067853"/>
            <a:ext cx="2523598" cy="356601"/>
            <a:chOff x="1524913" y="922950"/>
            <a:chExt cx="6094175" cy="564600"/>
          </a:xfrm>
        </p:grpSpPr>
        <p:cxnSp>
          <p:nvCxnSpPr>
            <p:cNvPr id="393" name="Google Shape;393;p56"/>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394" name="Google Shape;394;p56"/>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pic>
        <p:nvPicPr>
          <p:cNvPr id="395" name="Google Shape;395;p56"/>
          <p:cNvPicPr preferRelativeResize="0"/>
          <p:nvPr/>
        </p:nvPicPr>
        <p:blipFill rotWithShape="1">
          <a:blip r:embed="rId3">
            <a:alphaModFix/>
          </a:blip>
          <a:srcRect l="55191" t="29118" r="16840" b="26234"/>
          <a:stretch/>
        </p:blipFill>
        <p:spPr>
          <a:xfrm>
            <a:off x="6654963" y="1067850"/>
            <a:ext cx="1821886" cy="2908376"/>
          </a:xfrm>
          <a:prstGeom prst="rect">
            <a:avLst/>
          </a:prstGeom>
          <a:noFill/>
          <a:ln>
            <a:noFill/>
          </a:ln>
        </p:spPr>
      </p:pic>
    </p:spTree>
    <p:extLst>
      <p:ext uri="{BB962C8B-B14F-4D97-AF65-F5344CB8AC3E}">
        <p14:creationId xmlns:p14="http://schemas.microsoft.com/office/powerpoint/2010/main" val="11277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63"/>
          <p:cNvSpPr/>
          <p:nvPr/>
        </p:nvSpPr>
        <p:spPr>
          <a:xfrm>
            <a:off x="6419569"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3"/>
          <p:cNvSpPr/>
          <p:nvPr/>
        </p:nvSpPr>
        <p:spPr>
          <a:xfrm>
            <a:off x="4029720"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3"/>
          <p:cNvSpPr/>
          <p:nvPr/>
        </p:nvSpPr>
        <p:spPr>
          <a:xfrm>
            <a:off x="1725363"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OpenEHR</a:t>
            </a:r>
            <a:endParaRPr dirty="0"/>
          </a:p>
        </p:txBody>
      </p:sp>
      <p:sp>
        <p:nvSpPr>
          <p:cNvPr id="578" name="Google Shape;578;p63"/>
          <p:cNvSpPr txBox="1">
            <a:spLocks noGrp="1"/>
          </p:cNvSpPr>
          <p:nvPr>
            <p:ph type="title" idx="2"/>
          </p:nvPr>
        </p:nvSpPr>
        <p:spPr>
          <a:xfrm>
            <a:off x="1194250" y="3052601"/>
            <a:ext cx="20886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RM</a:t>
            </a:r>
            <a:endParaRPr dirty="0"/>
          </a:p>
        </p:txBody>
      </p:sp>
      <p:sp>
        <p:nvSpPr>
          <p:cNvPr id="579" name="Google Shape;579;p63"/>
          <p:cNvSpPr txBox="1">
            <a:spLocks noGrp="1"/>
          </p:cNvSpPr>
          <p:nvPr>
            <p:ph type="subTitle" idx="1"/>
          </p:nvPr>
        </p:nvSpPr>
        <p:spPr>
          <a:xfrm>
            <a:off x="1079200" y="3458662"/>
            <a:ext cx="2318700" cy="98831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Logical Structure the defines the basic structures and attributes needed to express EHR data instances</a:t>
            </a:r>
            <a:endParaRPr dirty="0"/>
          </a:p>
        </p:txBody>
      </p:sp>
      <p:sp>
        <p:nvSpPr>
          <p:cNvPr id="580" name="Google Shape;580;p63"/>
          <p:cNvSpPr txBox="1">
            <a:spLocks noGrp="1"/>
          </p:cNvSpPr>
          <p:nvPr>
            <p:ph type="title" idx="3"/>
          </p:nvPr>
        </p:nvSpPr>
        <p:spPr>
          <a:xfrm>
            <a:off x="3518499" y="3052601"/>
            <a:ext cx="20886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AM</a:t>
            </a:r>
            <a:endParaRPr dirty="0"/>
          </a:p>
        </p:txBody>
      </p:sp>
      <p:sp>
        <p:nvSpPr>
          <p:cNvPr id="581" name="Google Shape;581;p63"/>
          <p:cNvSpPr txBox="1">
            <a:spLocks noGrp="1"/>
          </p:cNvSpPr>
          <p:nvPr>
            <p:ph type="subTitle" idx="4"/>
          </p:nvPr>
        </p:nvSpPr>
        <p:spPr>
          <a:xfrm>
            <a:off x="3403449" y="3413501"/>
            <a:ext cx="2318700" cy="128497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Formal and semantic artifacts that facilitate collecting, storing, retrieving, representing, communicating and analyzing clinical data</a:t>
            </a:r>
            <a:endParaRPr dirty="0"/>
          </a:p>
        </p:txBody>
      </p:sp>
      <p:sp>
        <p:nvSpPr>
          <p:cNvPr id="582" name="Google Shape;582;p63"/>
          <p:cNvSpPr txBox="1">
            <a:spLocks noGrp="1"/>
          </p:cNvSpPr>
          <p:nvPr>
            <p:ph type="title" idx="5"/>
          </p:nvPr>
        </p:nvSpPr>
        <p:spPr>
          <a:xfrm>
            <a:off x="5861150" y="3052601"/>
            <a:ext cx="20886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Terminologies</a:t>
            </a:r>
            <a:endParaRPr dirty="0"/>
          </a:p>
        </p:txBody>
      </p:sp>
      <p:sp>
        <p:nvSpPr>
          <p:cNvPr id="583" name="Google Shape;583;p63"/>
          <p:cNvSpPr txBox="1">
            <a:spLocks noGrp="1"/>
          </p:cNvSpPr>
          <p:nvPr>
            <p:ph type="subTitle" idx="6"/>
          </p:nvPr>
        </p:nvSpPr>
        <p:spPr>
          <a:xfrm>
            <a:off x="5842748" y="3458662"/>
            <a:ext cx="2318700" cy="11989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Yes, </a:t>
            </a:r>
            <a:r>
              <a:rPr lang="en-US" dirty="0"/>
              <a:t>terminology-neutral approach allows referring to external terminologies in archetypes, such as SNOMED CT, ICD, LOINC</a:t>
            </a:r>
            <a:endParaRPr dirty="0"/>
          </a:p>
        </p:txBody>
      </p:sp>
      <p:grpSp>
        <p:nvGrpSpPr>
          <p:cNvPr id="584" name="Google Shape;584;p63"/>
          <p:cNvGrpSpPr/>
          <p:nvPr/>
        </p:nvGrpSpPr>
        <p:grpSpPr>
          <a:xfrm>
            <a:off x="6751007" y="2175995"/>
            <a:ext cx="354136" cy="334348"/>
            <a:chOff x="-25844850" y="2357750"/>
            <a:chExt cx="296175" cy="279625"/>
          </a:xfrm>
        </p:grpSpPr>
        <p:sp>
          <p:nvSpPr>
            <p:cNvPr id="585" name="Google Shape;585;p63"/>
            <p:cNvSpPr/>
            <p:nvPr/>
          </p:nvSpPr>
          <p:spPr>
            <a:xfrm>
              <a:off x="-25792075" y="2428625"/>
              <a:ext cx="191425" cy="208750"/>
            </a:xfrm>
            <a:custGeom>
              <a:avLst/>
              <a:gdLst/>
              <a:ahLst/>
              <a:cxnLst/>
              <a:rect l="l" t="t" r="r" b="b"/>
              <a:pathLst>
                <a:path w="7657" h="8350" extrusionOk="0">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6" name="Google Shape;586;p63"/>
            <p:cNvSpPr/>
            <p:nvPr/>
          </p:nvSpPr>
          <p:spPr>
            <a:xfrm>
              <a:off x="-25602250" y="2497950"/>
              <a:ext cx="53575" cy="17350"/>
            </a:xfrm>
            <a:custGeom>
              <a:avLst/>
              <a:gdLst/>
              <a:ahLst/>
              <a:cxnLst/>
              <a:rect l="l" t="t" r="r" b="b"/>
              <a:pathLst>
                <a:path w="2143" h="694" extrusionOk="0">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7" name="Google Shape;587;p63"/>
            <p:cNvSpPr/>
            <p:nvPr/>
          </p:nvSpPr>
          <p:spPr>
            <a:xfrm>
              <a:off x="-25844850" y="2497950"/>
              <a:ext cx="52800" cy="17350"/>
            </a:xfrm>
            <a:custGeom>
              <a:avLst/>
              <a:gdLst/>
              <a:ahLst/>
              <a:cxnLst/>
              <a:rect l="l" t="t" r="r" b="b"/>
              <a:pathLst>
                <a:path w="2112" h="694" extrusionOk="0">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8" name="Google Shape;588;p63"/>
            <p:cNvSpPr/>
            <p:nvPr/>
          </p:nvSpPr>
          <p:spPr>
            <a:xfrm>
              <a:off x="-25706225" y="2357750"/>
              <a:ext cx="17350" cy="53575"/>
            </a:xfrm>
            <a:custGeom>
              <a:avLst/>
              <a:gdLst/>
              <a:ahLst/>
              <a:cxnLst/>
              <a:rect l="l" t="t" r="r" b="b"/>
              <a:pathLst>
                <a:path w="694" h="2143" extrusionOk="0">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9" name="Google Shape;589;p63"/>
            <p:cNvSpPr/>
            <p:nvPr/>
          </p:nvSpPr>
          <p:spPr>
            <a:xfrm>
              <a:off x="-25804675" y="2400275"/>
              <a:ext cx="42550" cy="41775"/>
            </a:xfrm>
            <a:custGeom>
              <a:avLst/>
              <a:gdLst/>
              <a:ahLst/>
              <a:cxnLst/>
              <a:rect l="l" t="t" r="r" b="b"/>
              <a:pathLst>
                <a:path w="1702" h="1671" extrusionOk="0">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90" name="Google Shape;590;p63"/>
            <p:cNvSpPr/>
            <p:nvPr/>
          </p:nvSpPr>
          <p:spPr>
            <a:xfrm>
              <a:off x="-25632175" y="2400275"/>
              <a:ext cx="41750" cy="41775"/>
            </a:xfrm>
            <a:custGeom>
              <a:avLst/>
              <a:gdLst/>
              <a:ahLst/>
              <a:cxnLst/>
              <a:rect l="l" t="t" r="r" b="b"/>
              <a:pathLst>
                <a:path w="1670" h="1671" extrusionOk="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grpSp>
      <p:grpSp>
        <p:nvGrpSpPr>
          <p:cNvPr id="591" name="Google Shape;591;p63"/>
          <p:cNvGrpSpPr/>
          <p:nvPr/>
        </p:nvGrpSpPr>
        <p:grpSpPr>
          <a:xfrm>
            <a:off x="4366930" y="2182764"/>
            <a:ext cx="342580" cy="339271"/>
            <a:chOff x="5049725" y="1435050"/>
            <a:chExt cx="486550" cy="481850"/>
          </a:xfrm>
        </p:grpSpPr>
        <p:sp>
          <p:nvSpPr>
            <p:cNvPr id="592" name="Google Shape;592;p6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 name="Google Shape;593;p6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 name="Google Shape;594;p6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 name="Google Shape;595;p6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6" name="Google Shape;596;p63"/>
          <p:cNvGrpSpPr/>
          <p:nvPr/>
        </p:nvGrpSpPr>
        <p:grpSpPr>
          <a:xfrm>
            <a:off x="2058351" y="2161014"/>
            <a:ext cx="351024" cy="347301"/>
            <a:chOff x="946175" y="3619500"/>
            <a:chExt cx="296975" cy="293825"/>
          </a:xfrm>
        </p:grpSpPr>
        <p:sp>
          <p:nvSpPr>
            <p:cNvPr id="597" name="Google Shape;597;p63"/>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3"/>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3"/>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63"/>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3"/>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3"/>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03" name="Google Shape;603;p63"/>
          <p:cNvCxnSpPr/>
          <p:nvPr/>
        </p:nvCxnSpPr>
        <p:spPr>
          <a:xfrm>
            <a:off x="1725558" y="4739824"/>
            <a:ext cx="5677200" cy="0"/>
          </a:xfrm>
          <a:prstGeom prst="straightConnector1">
            <a:avLst/>
          </a:prstGeom>
          <a:noFill/>
          <a:ln w="19050" cap="flat" cmpd="sng">
            <a:solidFill>
              <a:srgbClr val="DADACE"/>
            </a:solidFill>
            <a:prstDash val="solid"/>
            <a:round/>
            <a:headEnd type="none" w="med" len="med"/>
            <a:tailEnd type="none" w="med" len="med"/>
          </a:ln>
        </p:spPr>
      </p:cxnSp>
      <p:grpSp>
        <p:nvGrpSpPr>
          <p:cNvPr id="604" name="Google Shape;604;p63"/>
          <p:cNvGrpSpPr/>
          <p:nvPr/>
        </p:nvGrpSpPr>
        <p:grpSpPr>
          <a:xfrm>
            <a:off x="1725400" y="1251601"/>
            <a:ext cx="5676724" cy="334356"/>
            <a:chOff x="1524913" y="922950"/>
            <a:chExt cx="6094175" cy="564600"/>
          </a:xfrm>
        </p:grpSpPr>
        <p:cxnSp>
          <p:nvCxnSpPr>
            <p:cNvPr id="605" name="Google Shape;605;p63"/>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606" name="Google Shape;606;p63"/>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Tree>
    <p:extLst>
      <p:ext uri="{BB962C8B-B14F-4D97-AF65-F5344CB8AC3E}">
        <p14:creationId xmlns:p14="http://schemas.microsoft.com/office/powerpoint/2010/main" val="786734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pic>
        <p:nvPicPr>
          <p:cNvPr id="511" name="Google Shape;511;p61"/>
          <p:cNvPicPr preferRelativeResize="0"/>
          <p:nvPr/>
        </p:nvPicPr>
        <p:blipFill rotWithShape="1">
          <a:blip r:embed="rId3">
            <a:alphaModFix/>
          </a:blip>
          <a:srcRect l="39242" t="15676" b="12116"/>
          <a:stretch/>
        </p:blipFill>
        <p:spPr>
          <a:xfrm>
            <a:off x="2784643" y="1081525"/>
            <a:ext cx="3417614" cy="4061976"/>
          </a:xfrm>
          <a:prstGeom prst="rect">
            <a:avLst/>
          </a:prstGeom>
          <a:noFill/>
          <a:ln>
            <a:noFill/>
          </a:ln>
        </p:spPr>
      </p:pic>
      <p:sp>
        <p:nvSpPr>
          <p:cNvPr id="512" name="Google Shape;512;p61"/>
          <p:cNvSpPr/>
          <p:nvPr/>
        </p:nvSpPr>
        <p:spPr>
          <a:xfrm>
            <a:off x="1214124" y="3064250"/>
            <a:ext cx="1626300" cy="502500"/>
          </a:xfrm>
          <a:prstGeom prst="roundRect">
            <a:avLst>
              <a:gd name="adj" fmla="val 50000"/>
            </a:avLst>
          </a:prstGeom>
          <a:solidFill>
            <a:schemeClr val="dk2"/>
          </a:solidFill>
          <a:ln w="19050" cap="flat" cmpd="sng">
            <a:solidFill>
              <a:srgbClr val="DADA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61"/>
          <p:cNvSpPr/>
          <p:nvPr/>
        </p:nvSpPr>
        <p:spPr>
          <a:xfrm>
            <a:off x="6414074" y="1630850"/>
            <a:ext cx="1626300" cy="502500"/>
          </a:xfrm>
          <a:prstGeom prst="roundRect">
            <a:avLst>
              <a:gd name="adj" fmla="val 50000"/>
            </a:avLst>
          </a:prstGeom>
          <a:noFill/>
          <a:ln w="19050" cap="flat" cmpd="sng">
            <a:solidFill>
              <a:srgbClr val="DADA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61"/>
          <p:cNvSpPr/>
          <p:nvPr/>
        </p:nvSpPr>
        <p:spPr>
          <a:xfrm>
            <a:off x="1214124" y="1630850"/>
            <a:ext cx="1626300" cy="502500"/>
          </a:xfrm>
          <a:prstGeom prst="roundRect">
            <a:avLst>
              <a:gd name="adj" fmla="val 50000"/>
            </a:avLst>
          </a:prstGeom>
          <a:solidFill>
            <a:schemeClr val="dk2"/>
          </a:solidFill>
          <a:ln w="19050" cap="flat" cmpd="sng">
            <a:solidFill>
              <a:srgbClr val="DADA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61"/>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OpenEHR Approach Expansion</a:t>
            </a:r>
            <a:endParaRPr dirty="0"/>
          </a:p>
        </p:txBody>
      </p:sp>
      <p:sp>
        <p:nvSpPr>
          <p:cNvPr id="516" name="Google Shape;516;p61"/>
          <p:cNvSpPr txBox="1"/>
          <p:nvPr/>
        </p:nvSpPr>
        <p:spPr>
          <a:xfrm>
            <a:off x="1388875" y="1618250"/>
            <a:ext cx="12768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rgbClr val="252E47"/>
                </a:solidFill>
                <a:latin typeface="Prata"/>
                <a:ea typeface="Prata"/>
                <a:cs typeface="Prata"/>
                <a:sym typeface="Prata"/>
              </a:rPr>
              <a:t>Europe</a:t>
            </a:r>
            <a:endParaRPr sz="2000" b="1" dirty="0">
              <a:solidFill>
                <a:srgbClr val="252E47"/>
              </a:solidFill>
              <a:latin typeface="Prata"/>
              <a:ea typeface="Prata"/>
              <a:cs typeface="Prata"/>
              <a:sym typeface="Prata"/>
            </a:endParaRPr>
          </a:p>
        </p:txBody>
      </p:sp>
      <p:sp>
        <p:nvSpPr>
          <p:cNvPr id="517" name="Google Shape;517;p61"/>
          <p:cNvSpPr txBox="1"/>
          <p:nvPr/>
        </p:nvSpPr>
        <p:spPr>
          <a:xfrm>
            <a:off x="546250" y="2145075"/>
            <a:ext cx="20781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rgbClr val="252E47"/>
                </a:solidFill>
                <a:latin typeface="Exo"/>
                <a:ea typeface="Exo"/>
                <a:cs typeface="Exo"/>
                <a:sym typeface="Exo"/>
              </a:rPr>
              <a:t>Germany, Norway, UK, Sweeden, Denmark, etc.</a:t>
            </a:r>
            <a:endParaRPr dirty="0">
              <a:solidFill>
                <a:srgbClr val="252E47"/>
              </a:solidFill>
              <a:latin typeface="Exo"/>
              <a:ea typeface="Exo"/>
              <a:cs typeface="Exo"/>
              <a:sym typeface="Exo"/>
            </a:endParaRPr>
          </a:p>
        </p:txBody>
      </p:sp>
      <p:sp>
        <p:nvSpPr>
          <p:cNvPr id="518" name="Google Shape;518;p61"/>
          <p:cNvSpPr txBox="1"/>
          <p:nvPr/>
        </p:nvSpPr>
        <p:spPr>
          <a:xfrm>
            <a:off x="6519650" y="1618250"/>
            <a:ext cx="1410225"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rgbClr val="252E47"/>
                </a:solidFill>
                <a:latin typeface="Prata"/>
                <a:ea typeface="Prata"/>
                <a:cs typeface="Prata"/>
                <a:sym typeface="Prata"/>
              </a:rPr>
              <a:t>Australia</a:t>
            </a:r>
            <a:endParaRPr sz="2000" b="1" dirty="0">
              <a:solidFill>
                <a:srgbClr val="252E47"/>
              </a:solidFill>
              <a:latin typeface="Prata"/>
              <a:ea typeface="Prata"/>
              <a:cs typeface="Prata"/>
              <a:sym typeface="Prata"/>
            </a:endParaRPr>
          </a:p>
        </p:txBody>
      </p:sp>
      <p:sp>
        <p:nvSpPr>
          <p:cNvPr id="519" name="Google Shape;519;p61"/>
          <p:cNvSpPr txBox="1"/>
          <p:nvPr/>
        </p:nvSpPr>
        <p:spPr>
          <a:xfrm>
            <a:off x="6519650" y="2145075"/>
            <a:ext cx="20781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rgbClr val="252E47"/>
              </a:solidFill>
              <a:latin typeface="Exo"/>
              <a:ea typeface="Exo"/>
              <a:cs typeface="Exo"/>
              <a:sym typeface="Exo"/>
            </a:endParaRPr>
          </a:p>
        </p:txBody>
      </p:sp>
      <p:sp>
        <p:nvSpPr>
          <p:cNvPr id="520" name="Google Shape;520;p61"/>
          <p:cNvSpPr txBox="1"/>
          <p:nvPr/>
        </p:nvSpPr>
        <p:spPr>
          <a:xfrm>
            <a:off x="1388875" y="3051650"/>
            <a:ext cx="12768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rgbClr val="252E47"/>
                </a:solidFill>
                <a:latin typeface="Prata"/>
                <a:ea typeface="Prata"/>
                <a:cs typeface="Prata"/>
                <a:sym typeface="Prata"/>
              </a:rPr>
              <a:t>Asia</a:t>
            </a:r>
            <a:endParaRPr sz="2000" b="1" dirty="0">
              <a:solidFill>
                <a:srgbClr val="252E47"/>
              </a:solidFill>
              <a:latin typeface="Prata"/>
              <a:ea typeface="Prata"/>
              <a:cs typeface="Prata"/>
              <a:sym typeface="Prata"/>
            </a:endParaRPr>
          </a:p>
        </p:txBody>
      </p:sp>
      <p:sp>
        <p:nvSpPr>
          <p:cNvPr id="521" name="Google Shape;521;p61"/>
          <p:cNvSpPr txBox="1"/>
          <p:nvPr/>
        </p:nvSpPr>
        <p:spPr>
          <a:xfrm>
            <a:off x="546250" y="3578475"/>
            <a:ext cx="20781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rgbClr val="252E47"/>
                </a:solidFill>
                <a:latin typeface="Exo"/>
                <a:ea typeface="Exo"/>
                <a:cs typeface="Exo"/>
                <a:sym typeface="Exo"/>
              </a:rPr>
              <a:t>Japan, Indonesia, China, etc.</a:t>
            </a:r>
            <a:endParaRPr dirty="0">
              <a:solidFill>
                <a:srgbClr val="252E47"/>
              </a:solidFill>
              <a:latin typeface="Exo"/>
              <a:ea typeface="Exo"/>
              <a:cs typeface="Exo"/>
              <a:sym typeface="Exo"/>
            </a:endParaRPr>
          </a:p>
        </p:txBody>
      </p:sp>
      <p:sp>
        <p:nvSpPr>
          <p:cNvPr id="522" name="Google Shape;522;p61"/>
          <p:cNvSpPr txBox="1"/>
          <p:nvPr/>
        </p:nvSpPr>
        <p:spPr>
          <a:xfrm>
            <a:off x="6519650" y="3578475"/>
            <a:ext cx="20781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252E47"/>
                </a:solidFill>
                <a:latin typeface="Exo"/>
                <a:ea typeface="Exo"/>
                <a:cs typeface="Exo"/>
                <a:sym typeface="Exo"/>
              </a:rPr>
              <a:t>Brazil</a:t>
            </a:r>
            <a:endParaRPr dirty="0">
              <a:solidFill>
                <a:srgbClr val="252E47"/>
              </a:solidFill>
              <a:latin typeface="Exo"/>
              <a:ea typeface="Exo"/>
              <a:cs typeface="Exo"/>
              <a:sym typeface="Exo"/>
            </a:endParaRPr>
          </a:p>
        </p:txBody>
      </p:sp>
      <p:cxnSp>
        <p:nvCxnSpPr>
          <p:cNvPr id="523" name="Google Shape;523;p61"/>
          <p:cNvCxnSpPr>
            <a:stCxn id="524" idx="2"/>
            <a:endCxn id="514" idx="3"/>
          </p:cNvCxnSpPr>
          <p:nvPr/>
        </p:nvCxnSpPr>
        <p:spPr>
          <a:xfrm rot="10800000">
            <a:off x="2840424" y="1882100"/>
            <a:ext cx="377700" cy="163200"/>
          </a:xfrm>
          <a:prstGeom prst="straightConnector1">
            <a:avLst/>
          </a:prstGeom>
          <a:noFill/>
          <a:ln w="28575" cap="flat" cmpd="sng">
            <a:solidFill>
              <a:schemeClr val="accent1"/>
            </a:solidFill>
            <a:prstDash val="solid"/>
            <a:round/>
            <a:headEnd type="none" w="med" len="med"/>
            <a:tailEnd type="oval" w="med" len="med"/>
          </a:ln>
        </p:spPr>
      </p:cxnSp>
      <p:cxnSp>
        <p:nvCxnSpPr>
          <p:cNvPr id="525" name="Google Shape;525;p61"/>
          <p:cNvCxnSpPr>
            <a:endCxn id="512" idx="3"/>
          </p:cNvCxnSpPr>
          <p:nvPr/>
        </p:nvCxnSpPr>
        <p:spPr>
          <a:xfrm flipH="1">
            <a:off x="2840424" y="2874200"/>
            <a:ext cx="1276800" cy="441300"/>
          </a:xfrm>
          <a:prstGeom prst="straightConnector1">
            <a:avLst/>
          </a:prstGeom>
          <a:noFill/>
          <a:ln w="28575" cap="flat" cmpd="sng">
            <a:solidFill>
              <a:schemeClr val="accent1"/>
            </a:solidFill>
            <a:prstDash val="solid"/>
            <a:round/>
            <a:headEnd type="none" w="med" len="med"/>
            <a:tailEnd type="oval" w="med" len="med"/>
          </a:ln>
        </p:spPr>
      </p:cxnSp>
      <p:cxnSp>
        <p:nvCxnSpPr>
          <p:cNvPr id="526" name="Google Shape;526;p61"/>
          <p:cNvCxnSpPr>
            <a:stCxn id="527" idx="6"/>
            <a:endCxn id="513" idx="1"/>
          </p:cNvCxnSpPr>
          <p:nvPr/>
        </p:nvCxnSpPr>
        <p:spPr>
          <a:xfrm>
            <a:off x="5326400" y="1790300"/>
            <a:ext cx="1087800" cy="91800"/>
          </a:xfrm>
          <a:prstGeom prst="straightConnector1">
            <a:avLst/>
          </a:prstGeom>
          <a:noFill/>
          <a:ln w="28575" cap="flat" cmpd="sng">
            <a:solidFill>
              <a:schemeClr val="accent1"/>
            </a:solidFill>
            <a:prstDash val="solid"/>
            <a:round/>
            <a:headEnd type="none" w="med" len="med"/>
            <a:tailEnd type="oval" w="med" len="med"/>
          </a:ln>
        </p:spPr>
      </p:cxnSp>
      <p:sp>
        <p:nvSpPr>
          <p:cNvPr id="528" name="Google Shape;528;p61"/>
          <p:cNvSpPr/>
          <p:nvPr/>
        </p:nvSpPr>
        <p:spPr>
          <a:xfrm>
            <a:off x="4638575" y="3060350"/>
            <a:ext cx="510300" cy="510300"/>
          </a:xfrm>
          <a:prstGeom prst="ellipse">
            <a:avLst/>
          </a:prstGeom>
          <a:solidFill>
            <a:srgbClr val="FFFFFF">
              <a:alpha val="48040"/>
            </a:srgbClr>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61"/>
          <p:cNvSpPr/>
          <p:nvPr/>
        </p:nvSpPr>
        <p:spPr>
          <a:xfrm>
            <a:off x="4117025" y="2541350"/>
            <a:ext cx="510300" cy="510300"/>
          </a:xfrm>
          <a:prstGeom prst="ellipse">
            <a:avLst/>
          </a:prstGeom>
          <a:solidFill>
            <a:srgbClr val="FFFFFF">
              <a:alpha val="48040"/>
            </a:srgbClr>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61"/>
          <p:cNvSpPr/>
          <p:nvPr/>
        </p:nvSpPr>
        <p:spPr>
          <a:xfrm>
            <a:off x="3218125" y="1801325"/>
            <a:ext cx="510300" cy="510300"/>
          </a:xfrm>
          <a:prstGeom prst="ellipse">
            <a:avLst/>
          </a:prstGeom>
          <a:solidFill>
            <a:srgbClr val="FFFFFF">
              <a:alpha val="48040"/>
            </a:srgbClr>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61"/>
          <p:cNvSpPr/>
          <p:nvPr/>
        </p:nvSpPr>
        <p:spPr>
          <a:xfrm>
            <a:off x="4816100" y="1535150"/>
            <a:ext cx="510300" cy="510300"/>
          </a:xfrm>
          <a:prstGeom prst="ellipse">
            <a:avLst/>
          </a:prstGeom>
          <a:solidFill>
            <a:srgbClr val="FFFFFF">
              <a:alpha val="48040"/>
            </a:srgbClr>
          </a:solid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1" name="Google Shape;531;p61"/>
          <p:cNvCxnSpPr>
            <a:stCxn id="528" idx="6"/>
            <a:endCxn id="532" idx="1"/>
          </p:cNvCxnSpPr>
          <p:nvPr/>
        </p:nvCxnSpPr>
        <p:spPr>
          <a:xfrm>
            <a:off x="5148875" y="3315500"/>
            <a:ext cx="1265100" cy="0"/>
          </a:xfrm>
          <a:prstGeom prst="straightConnector1">
            <a:avLst/>
          </a:prstGeom>
          <a:noFill/>
          <a:ln w="28575" cap="flat" cmpd="sng">
            <a:solidFill>
              <a:schemeClr val="accent1"/>
            </a:solidFill>
            <a:prstDash val="solid"/>
            <a:round/>
            <a:headEnd type="none" w="med" len="med"/>
            <a:tailEnd type="oval" w="med" len="med"/>
          </a:ln>
        </p:spPr>
      </p:cxnSp>
      <p:sp>
        <p:nvSpPr>
          <p:cNvPr id="532" name="Google Shape;532;p61"/>
          <p:cNvSpPr/>
          <p:nvPr/>
        </p:nvSpPr>
        <p:spPr>
          <a:xfrm>
            <a:off x="6414074" y="3064250"/>
            <a:ext cx="1626300" cy="502500"/>
          </a:xfrm>
          <a:prstGeom prst="roundRect">
            <a:avLst>
              <a:gd name="adj" fmla="val 50000"/>
            </a:avLst>
          </a:prstGeom>
          <a:noFill/>
          <a:ln w="19050" cap="flat" cmpd="sng">
            <a:solidFill>
              <a:srgbClr val="DADAC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61"/>
          <p:cNvSpPr txBox="1"/>
          <p:nvPr/>
        </p:nvSpPr>
        <p:spPr>
          <a:xfrm>
            <a:off x="6588825" y="3051650"/>
            <a:ext cx="1276800" cy="527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solidFill>
                  <a:srgbClr val="252E47"/>
                </a:solidFill>
                <a:latin typeface="Prata"/>
                <a:ea typeface="Prata"/>
                <a:cs typeface="Prata"/>
                <a:sym typeface="Prata"/>
              </a:rPr>
              <a:t>America</a:t>
            </a:r>
            <a:endParaRPr sz="2000" b="1" dirty="0">
              <a:solidFill>
                <a:srgbClr val="252E47"/>
              </a:solidFill>
              <a:latin typeface="Prata"/>
              <a:ea typeface="Prata"/>
              <a:cs typeface="Prata"/>
              <a:sym typeface="Prata"/>
            </a:endParaRPr>
          </a:p>
        </p:txBody>
      </p:sp>
    </p:spTree>
    <p:extLst>
      <p:ext uri="{BB962C8B-B14F-4D97-AF65-F5344CB8AC3E}">
        <p14:creationId xmlns:p14="http://schemas.microsoft.com/office/powerpoint/2010/main" val="612547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57"/>
          <p:cNvPicPr preferRelativeResize="0"/>
          <p:nvPr/>
        </p:nvPicPr>
        <p:blipFill rotWithShape="1">
          <a:blip r:embed="rId3">
            <a:alphaModFix/>
          </a:blip>
          <a:srcRect l="60513" t="15763" r="16584" b="61860"/>
          <a:stretch/>
        </p:blipFill>
        <p:spPr>
          <a:xfrm flipH="1">
            <a:off x="1685550" y="1237300"/>
            <a:ext cx="1170100" cy="1143236"/>
          </a:xfrm>
          <a:prstGeom prst="rect">
            <a:avLst/>
          </a:prstGeom>
          <a:noFill/>
          <a:ln>
            <a:noFill/>
          </a:ln>
        </p:spPr>
      </p:pic>
      <p:sp>
        <p:nvSpPr>
          <p:cNvPr id="401" name="Google Shape;401;p57"/>
          <p:cNvSpPr/>
          <p:nvPr/>
        </p:nvSpPr>
        <p:spPr>
          <a:xfrm>
            <a:off x="3340685" y="3698500"/>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Implementation</a:t>
            </a:r>
            <a:endParaRPr dirty="0"/>
          </a:p>
        </p:txBody>
      </p:sp>
      <p:sp>
        <p:nvSpPr>
          <p:cNvPr id="403" name="Google Shape;403;p57"/>
          <p:cNvSpPr/>
          <p:nvPr/>
        </p:nvSpPr>
        <p:spPr>
          <a:xfrm>
            <a:off x="3779782" y="3124671"/>
            <a:ext cx="674305" cy="700936"/>
          </a:xfrm>
          <a:custGeom>
            <a:avLst/>
            <a:gdLst/>
            <a:ahLst/>
            <a:cxnLst/>
            <a:rect l="l" t="t" r="r" b="b"/>
            <a:pathLst>
              <a:path w="38411" h="39928" extrusionOk="0">
                <a:moveTo>
                  <a:pt x="28811" y="1"/>
                </a:moveTo>
                <a:cubicBezTo>
                  <a:pt x="28510" y="1"/>
                  <a:pt x="28192" y="334"/>
                  <a:pt x="28373" y="695"/>
                </a:cubicBezTo>
                <a:cubicBezTo>
                  <a:pt x="30445" y="4791"/>
                  <a:pt x="34267" y="7780"/>
                  <a:pt x="36005" y="12078"/>
                </a:cubicBezTo>
                <a:cubicBezTo>
                  <a:pt x="37505" y="15792"/>
                  <a:pt x="36934" y="20150"/>
                  <a:pt x="34636" y="23424"/>
                </a:cubicBezTo>
                <a:cubicBezTo>
                  <a:pt x="34148" y="24115"/>
                  <a:pt x="33576" y="24770"/>
                  <a:pt x="32921" y="25329"/>
                </a:cubicBezTo>
                <a:cubicBezTo>
                  <a:pt x="32838" y="25401"/>
                  <a:pt x="32743" y="25484"/>
                  <a:pt x="32647" y="25556"/>
                </a:cubicBezTo>
                <a:cubicBezTo>
                  <a:pt x="32629" y="25574"/>
                  <a:pt x="32532" y="25649"/>
                  <a:pt x="32528" y="25649"/>
                </a:cubicBezTo>
                <a:cubicBezTo>
                  <a:pt x="32527" y="25649"/>
                  <a:pt x="32533" y="25643"/>
                  <a:pt x="32552" y="25627"/>
                </a:cubicBezTo>
                <a:lnTo>
                  <a:pt x="32552" y="25627"/>
                </a:lnTo>
                <a:cubicBezTo>
                  <a:pt x="32493" y="25675"/>
                  <a:pt x="32421" y="25734"/>
                  <a:pt x="32362" y="25782"/>
                </a:cubicBezTo>
                <a:cubicBezTo>
                  <a:pt x="32124" y="25960"/>
                  <a:pt x="31874" y="26127"/>
                  <a:pt x="31612" y="26294"/>
                </a:cubicBezTo>
                <a:cubicBezTo>
                  <a:pt x="30361" y="27115"/>
                  <a:pt x="29016" y="27818"/>
                  <a:pt x="27671" y="28484"/>
                </a:cubicBezTo>
                <a:cubicBezTo>
                  <a:pt x="23944" y="30306"/>
                  <a:pt x="20051" y="31830"/>
                  <a:pt x="16169" y="33318"/>
                </a:cubicBezTo>
                <a:cubicBezTo>
                  <a:pt x="11538" y="35092"/>
                  <a:pt x="6859" y="36759"/>
                  <a:pt x="2167" y="38414"/>
                </a:cubicBezTo>
                <a:cubicBezTo>
                  <a:pt x="1560" y="38629"/>
                  <a:pt x="965" y="38843"/>
                  <a:pt x="370" y="39069"/>
                </a:cubicBezTo>
                <a:cubicBezTo>
                  <a:pt x="155" y="39152"/>
                  <a:pt x="1" y="39367"/>
                  <a:pt x="72" y="39605"/>
                </a:cubicBezTo>
                <a:cubicBezTo>
                  <a:pt x="122" y="39796"/>
                  <a:pt x="309" y="39928"/>
                  <a:pt x="502" y="39928"/>
                </a:cubicBezTo>
                <a:cubicBezTo>
                  <a:pt x="537" y="39928"/>
                  <a:pt x="573" y="39924"/>
                  <a:pt x="608" y="39914"/>
                </a:cubicBezTo>
                <a:cubicBezTo>
                  <a:pt x="1846" y="39522"/>
                  <a:pt x="3072" y="39069"/>
                  <a:pt x="4299" y="38640"/>
                </a:cubicBezTo>
                <a:cubicBezTo>
                  <a:pt x="5501" y="38224"/>
                  <a:pt x="6704" y="37795"/>
                  <a:pt x="7906" y="37366"/>
                </a:cubicBezTo>
                <a:cubicBezTo>
                  <a:pt x="10288" y="36521"/>
                  <a:pt x="12669" y="35664"/>
                  <a:pt x="15026" y="34783"/>
                </a:cubicBezTo>
                <a:cubicBezTo>
                  <a:pt x="19146" y="33247"/>
                  <a:pt x="23242" y="31640"/>
                  <a:pt x="27206" y="29758"/>
                </a:cubicBezTo>
                <a:cubicBezTo>
                  <a:pt x="28671" y="29068"/>
                  <a:pt x="30123" y="28330"/>
                  <a:pt x="31493" y="27484"/>
                </a:cubicBezTo>
                <a:cubicBezTo>
                  <a:pt x="32647" y="26770"/>
                  <a:pt x="33731" y="25972"/>
                  <a:pt x="34612" y="24948"/>
                </a:cubicBezTo>
                <a:cubicBezTo>
                  <a:pt x="37327" y="21817"/>
                  <a:pt x="38410" y="17340"/>
                  <a:pt x="37362" y="13316"/>
                </a:cubicBezTo>
                <a:cubicBezTo>
                  <a:pt x="36196" y="8792"/>
                  <a:pt x="32493" y="5684"/>
                  <a:pt x="30088" y="1862"/>
                </a:cubicBezTo>
                <a:cubicBezTo>
                  <a:pt x="29754" y="1338"/>
                  <a:pt x="29445" y="791"/>
                  <a:pt x="29159" y="231"/>
                </a:cubicBezTo>
                <a:cubicBezTo>
                  <a:pt x="29078" y="68"/>
                  <a:pt x="28946" y="1"/>
                  <a:pt x="288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57"/>
          <p:cNvSpPr/>
          <p:nvPr/>
        </p:nvSpPr>
        <p:spPr>
          <a:xfrm>
            <a:off x="4592604" y="2849686"/>
            <a:ext cx="1475638" cy="412507"/>
          </a:xfrm>
          <a:custGeom>
            <a:avLst/>
            <a:gdLst/>
            <a:ahLst/>
            <a:cxnLst/>
            <a:rect l="l" t="t" r="r" b="b"/>
            <a:pathLst>
              <a:path w="84058" h="23498" extrusionOk="0">
                <a:moveTo>
                  <a:pt x="716" y="1"/>
                </a:moveTo>
                <a:cubicBezTo>
                  <a:pt x="0" y="1"/>
                  <a:pt x="7" y="1132"/>
                  <a:pt x="738" y="1156"/>
                </a:cubicBezTo>
                <a:cubicBezTo>
                  <a:pt x="6429" y="1287"/>
                  <a:pt x="12073" y="2490"/>
                  <a:pt x="17514" y="4109"/>
                </a:cubicBezTo>
                <a:cubicBezTo>
                  <a:pt x="22824" y="5680"/>
                  <a:pt x="27992" y="7704"/>
                  <a:pt x="33087" y="9836"/>
                </a:cubicBezTo>
                <a:cubicBezTo>
                  <a:pt x="38255" y="11991"/>
                  <a:pt x="43363" y="14265"/>
                  <a:pt x="48566" y="16325"/>
                </a:cubicBezTo>
                <a:cubicBezTo>
                  <a:pt x="53816" y="18408"/>
                  <a:pt x="59162" y="20277"/>
                  <a:pt x="64663" y="21599"/>
                </a:cubicBezTo>
                <a:cubicBezTo>
                  <a:pt x="69552" y="22773"/>
                  <a:pt x="74565" y="23498"/>
                  <a:pt x="79600" y="23498"/>
                </a:cubicBezTo>
                <a:cubicBezTo>
                  <a:pt x="80181" y="23498"/>
                  <a:pt x="80762" y="23488"/>
                  <a:pt x="81343" y="23468"/>
                </a:cubicBezTo>
                <a:cubicBezTo>
                  <a:pt x="82034" y="23445"/>
                  <a:pt x="82725" y="23409"/>
                  <a:pt x="83415" y="23361"/>
                </a:cubicBezTo>
                <a:cubicBezTo>
                  <a:pt x="84043" y="23315"/>
                  <a:pt x="84058" y="22359"/>
                  <a:pt x="83459" y="22359"/>
                </a:cubicBezTo>
                <a:cubicBezTo>
                  <a:pt x="83445" y="22359"/>
                  <a:pt x="83430" y="22360"/>
                  <a:pt x="83415" y="22361"/>
                </a:cubicBezTo>
                <a:cubicBezTo>
                  <a:pt x="82180" y="22453"/>
                  <a:pt x="80943" y="22497"/>
                  <a:pt x="79708" y="22497"/>
                </a:cubicBezTo>
                <a:cubicBezTo>
                  <a:pt x="75325" y="22497"/>
                  <a:pt x="70954" y="21944"/>
                  <a:pt x="66663" y="21016"/>
                </a:cubicBezTo>
                <a:cubicBezTo>
                  <a:pt x="61150" y="19813"/>
                  <a:pt x="55769" y="18015"/>
                  <a:pt x="50506" y="15967"/>
                </a:cubicBezTo>
                <a:cubicBezTo>
                  <a:pt x="45279" y="13943"/>
                  <a:pt x="40148" y="11657"/>
                  <a:pt x="34992" y="9467"/>
                </a:cubicBezTo>
                <a:cubicBezTo>
                  <a:pt x="29897" y="7312"/>
                  <a:pt x="24765" y="5228"/>
                  <a:pt x="19479" y="3549"/>
                </a:cubicBezTo>
                <a:cubicBezTo>
                  <a:pt x="14109" y="1847"/>
                  <a:pt x="8549" y="525"/>
                  <a:pt x="2917" y="108"/>
                </a:cubicBezTo>
                <a:cubicBezTo>
                  <a:pt x="2191" y="61"/>
                  <a:pt x="1464" y="25"/>
                  <a:pt x="738" y="1"/>
                </a:cubicBezTo>
                <a:cubicBezTo>
                  <a:pt x="731" y="1"/>
                  <a:pt x="723" y="1"/>
                  <a:pt x="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7"/>
          <p:cNvSpPr/>
          <p:nvPr/>
        </p:nvSpPr>
        <p:spPr>
          <a:xfrm>
            <a:off x="5109113" y="2346883"/>
            <a:ext cx="1170111" cy="577998"/>
          </a:xfrm>
          <a:custGeom>
            <a:avLst/>
            <a:gdLst/>
            <a:ahLst/>
            <a:cxnLst/>
            <a:rect l="l" t="t" r="r" b="b"/>
            <a:pathLst>
              <a:path w="66654" h="32925" extrusionOk="0">
                <a:moveTo>
                  <a:pt x="798" y="1"/>
                </a:moveTo>
                <a:cubicBezTo>
                  <a:pt x="372" y="1"/>
                  <a:pt x="1" y="537"/>
                  <a:pt x="401" y="891"/>
                </a:cubicBezTo>
                <a:cubicBezTo>
                  <a:pt x="3913" y="3974"/>
                  <a:pt x="7807" y="6606"/>
                  <a:pt x="11903" y="8844"/>
                </a:cubicBezTo>
                <a:cubicBezTo>
                  <a:pt x="15998" y="11094"/>
                  <a:pt x="20296" y="12976"/>
                  <a:pt x="24654" y="14678"/>
                </a:cubicBezTo>
                <a:cubicBezTo>
                  <a:pt x="29059" y="16405"/>
                  <a:pt x="33536" y="17952"/>
                  <a:pt x="38001" y="19524"/>
                </a:cubicBezTo>
                <a:cubicBezTo>
                  <a:pt x="42478" y="21108"/>
                  <a:pt x="46943" y="22703"/>
                  <a:pt x="51324" y="24537"/>
                </a:cubicBezTo>
                <a:cubicBezTo>
                  <a:pt x="53503" y="25441"/>
                  <a:pt x="55646" y="26406"/>
                  <a:pt x="57765" y="27454"/>
                </a:cubicBezTo>
                <a:cubicBezTo>
                  <a:pt x="60004" y="28561"/>
                  <a:pt x="62230" y="29787"/>
                  <a:pt x="64135" y="31430"/>
                </a:cubicBezTo>
                <a:cubicBezTo>
                  <a:pt x="64612" y="31847"/>
                  <a:pt x="65064" y="32287"/>
                  <a:pt x="65493" y="32752"/>
                </a:cubicBezTo>
                <a:cubicBezTo>
                  <a:pt x="65609" y="32874"/>
                  <a:pt x="65740" y="32925"/>
                  <a:pt x="65866" y="32925"/>
                </a:cubicBezTo>
                <a:cubicBezTo>
                  <a:pt x="66284" y="32925"/>
                  <a:pt x="66653" y="32368"/>
                  <a:pt x="66278" y="31966"/>
                </a:cubicBezTo>
                <a:cubicBezTo>
                  <a:pt x="64552" y="30097"/>
                  <a:pt x="62409" y="28656"/>
                  <a:pt x="60182" y="27442"/>
                </a:cubicBezTo>
                <a:cubicBezTo>
                  <a:pt x="58051" y="26275"/>
                  <a:pt x="55849" y="25263"/>
                  <a:pt x="53634" y="24298"/>
                </a:cubicBezTo>
                <a:cubicBezTo>
                  <a:pt x="49276" y="22405"/>
                  <a:pt x="44811" y="20762"/>
                  <a:pt x="40335" y="19179"/>
                </a:cubicBezTo>
                <a:cubicBezTo>
                  <a:pt x="35870" y="17607"/>
                  <a:pt x="31369" y="16083"/>
                  <a:pt x="26940" y="14404"/>
                </a:cubicBezTo>
                <a:cubicBezTo>
                  <a:pt x="22571" y="12761"/>
                  <a:pt x="18260" y="10975"/>
                  <a:pt x="14105" y="8832"/>
                </a:cubicBezTo>
                <a:cubicBezTo>
                  <a:pt x="9998" y="6713"/>
                  <a:pt x="6057" y="4248"/>
                  <a:pt x="2497" y="1284"/>
                </a:cubicBezTo>
                <a:cubicBezTo>
                  <a:pt x="2044" y="915"/>
                  <a:pt x="1592" y="534"/>
                  <a:pt x="1151" y="141"/>
                </a:cubicBezTo>
                <a:cubicBezTo>
                  <a:pt x="1040" y="42"/>
                  <a:pt x="917"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7"/>
          <p:cNvSpPr/>
          <p:nvPr/>
        </p:nvSpPr>
        <p:spPr>
          <a:xfrm>
            <a:off x="5302782" y="2003225"/>
            <a:ext cx="1170085" cy="124658"/>
          </a:xfrm>
          <a:custGeom>
            <a:avLst/>
            <a:gdLst/>
            <a:ahLst/>
            <a:cxnLst/>
            <a:rect l="l" t="t" r="r" b="b"/>
            <a:pathLst>
              <a:path w="77425" h="7100" extrusionOk="0">
                <a:moveTo>
                  <a:pt x="76869" y="0"/>
                </a:moveTo>
                <a:cubicBezTo>
                  <a:pt x="76811" y="0"/>
                  <a:pt x="76750" y="15"/>
                  <a:pt x="76689" y="49"/>
                </a:cubicBezTo>
                <a:cubicBezTo>
                  <a:pt x="72569" y="2299"/>
                  <a:pt x="68116" y="3835"/>
                  <a:pt x="63520" y="4787"/>
                </a:cubicBezTo>
                <a:cubicBezTo>
                  <a:pt x="58913" y="5752"/>
                  <a:pt x="54198" y="6121"/>
                  <a:pt x="49495" y="6145"/>
                </a:cubicBezTo>
                <a:cubicBezTo>
                  <a:pt x="49345" y="6145"/>
                  <a:pt x="49195" y="6146"/>
                  <a:pt x="49045" y="6146"/>
                </a:cubicBezTo>
                <a:cubicBezTo>
                  <a:pt x="44303" y="6146"/>
                  <a:pt x="39583" y="5784"/>
                  <a:pt x="34874" y="5287"/>
                </a:cubicBezTo>
                <a:cubicBezTo>
                  <a:pt x="29492" y="4716"/>
                  <a:pt x="24134" y="3990"/>
                  <a:pt x="18753" y="3442"/>
                </a:cubicBezTo>
                <a:cubicBezTo>
                  <a:pt x="14261" y="2990"/>
                  <a:pt x="9744" y="2656"/>
                  <a:pt x="5216" y="2656"/>
                </a:cubicBezTo>
                <a:cubicBezTo>
                  <a:pt x="4378" y="2656"/>
                  <a:pt x="3541" y="2668"/>
                  <a:pt x="2703" y="2692"/>
                </a:cubicBezTo>
                <a:cubicBezTo>
                  <a:pt x="2036" y="2716"/>
                  <a:pt x="1358" y="2739"/>
                  <a:pt x="691" y="2787"/>
                </a:cubicBezTo>
                <a:cubicBezTo>
                  <a:pt x="12" y="2834"/>
                  <a:pt x="1" y="3859"/>
                  <a:pt x="657" y="3859"/>
                </a:cubicBezTo>
                <a:cubicBezTo>
                  <a:pt x="668" y="3859"/>
                  <a:pt x="680" y="3859"/>
                  <a:pt x="691" y="3859"/>
                </a:cubicBezTo>
                <a:cubicBezTo>
                  <a:pt x="2240" y="3787"/>
                  <a:pt x="3788" y="3754"/>
                  <a:pt x="5334" y="3754"/>
                </a:cubicBezTo>
                <a:cubicBezTo>
                  <a:pt x="9194" y="3754"/>
                  <a:pt x="13044" y="3962"/>
                  <a:pt x="16895" y="4311"/>
                </a:cubicBezTo>
                <a:cubicBezTo>
                  <a:pt x="22301" y="4799"/>
                  <a:pt x="27682" y="5514"/>
                  <a:pt x="33088" y="6097"/>
                </a:cubicBezTo>
                <a:cubicBezTo>
                  <a:pt x="38053" y="6633"/>
                  <a:pt x="43030" y="7061"/>
                  <a:pt x="48042" y="7097"/>
                </a:cubicBezTo>
                <a:cubicBezTo>
                  <a:pt x="48284" y="7099"/>
                  <a:pt x="48526" y="7100"/>
                  <a:pt x="48768" y="7100"/>
                </a:cubicBezTo>
                <a:cubicBezTo>
                  <a:pt x="53278" y="7100"/>
                  <a:pt x="57794" y="6780"/>
                  <a:pt x="62234" y="5966"/>
                </a:cubicBezTo>
                <a:cubicBezTo>
                  <a:pt x="66830" y="5121"/>
                  <a:pt x="71366" y="3704"/>
                  <a:pt x="75522" y="1537"/>
                </a:cubicBezTo>
                <a:cubicBezTo>
                  <a:pt x="76046" y="1263"/>
                  <a:pt x="76558" y="977"/>
                  <a:pt x="77070" y="691"/>
                </a:cubicBezTo>
                <a:cubicBezTo>
                  <a:pt x="77425" y="489"/>
                  <a:pt x="77201" y="0"/>
                  <a:pt x="76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7"/>
          <p:cNvSpPr/>
          <p:nvPr/>
        </p:nvSpPr>
        <p:spPr>
          <a:xfrm>
            <a:off x="5726646" y="2080359"/>
            <a:ext cx="12131" cy="9427"/>
          </a:xfrm>
          <a:custGeom>
            <a:avLst/>
            <a:gdLst/>
            <a:ahLst/>
            <a:cxnLst/>
            <a:rect l="l" t="t" r="r" b="b"/>
            <a:pathLst>
              <a:path w="691" h="537" extrusionOk="0">
                <a:moveTo>
                  <a:pt x="346" y="0"/>
                </a:moveTo>
                <a:cubicBezTo>
                  <a:pt x="0" y="0"/>
                  <a:pt x="0" y="536"/>
                  <a:pt x="346" y="536"/>
                </a:cubicBezTo>
                <a:cubicBezTo>
                  <a:pt x="691" y="536"/>
                  <a:pt x="691" y="0"/>
                  <a:pt x="34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 name="Google Shape;413;p57"/>
          <p:cNvGrpSpPr/>
          <p:nvPr/>
        </p:nvGrpSpPr>
        <p:grpSpPr>
          <a:xfrm>
            <a:off x="6453550" y="1402826"/>
            <a:ext cx="687152" cy="686938"/>
            <a:chOff x="5642475" y="1435075"/>
            <a:chExt cx="481975" cy="481825"/>
          </a:xfrm>
        </p:grpSpPr>
        <p:sp>
          <p:nvSpPr>
            <p:cNvPr id="414" name="Google Shape;414;p57"/>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5" name="Google Shape;415;p57"/>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6" name="Google Shape;416;p57"/>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417" name="Google Shape;417;p57"/>
          <p:cNvSpPr/>
          <p:nvPr/>
        </p:nvSpPr>
        <p:spPr>
          <a:xfrm>
            <a:off x="3433904" y="3765617"/>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7"/>
          <p:cNvSpPr/>
          <p:nvPr/>
        </p:nvSpPr>
        <p:spPr>
          <a:xfrm>
            <a:off x="4168785" y="2737925"/>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7"/>
          <p:cNvSpPr/>
          <p:nvPr/>
        </p:nvSpPr>
        <p:spPr>
          <a:xfrm>
            <a:off x="4262004" y="2805042"/>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7"/>
          <p:cNvSpPr/>
          <p:nvPr/>
        </p:nvSpPr>
        <p:spPr>
          <a:xfrm>
            <a:off x="6170060" y="2992975"/>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7"/>
          <p:cNvSpPr/>
          <p:nvPr/>
        </p:nvSpPr>
        <p:spPr>
          <a:xfrm>
            <a:off x="6263279" y="3060092"/>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57"/>
          <p:cNvSpPr/>
          <p:nvPr/>
        </p:nvSpPr>
        <p:spPr>
          <a:xfrm>
            <a:off x="4909460" y="1957700"/>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7"/>
          <p:cNvSpPr/>
          <p:nvPr/>
        </p:nvSpPr>
        <p:spPr>
          <a:xfrm>
            <a:off x="5002679" y="2024817"/>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57"/>
          <p:cNvSpPr txBox="1"/>
          <p:nvPr/>
        </p:nvSpPr>
        <p:spPr>
          <a:xfrm>
            <a:off x="3682409" y="1390014"/>
            <a:ext cx="1994269"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Exo"/>
                <a:ea typeface="Exo"/>
                <a:cs typeface="Exo"/>
                <a:sym typeface="Exo"/>
              </a:rPr>
              <a:t>Editing archetypes based on domain concepts </a:t>
            </a:r>
            <a:endParaRPr dirty="0">
              <a:solidFill>
                <a:schemeClr val="dk1"/>
              </a:solidFill>
              <a:latin typeface="Exo"/>
              <a:ea typeface="Exo"/>
              <a:cs typeface="Exo"/>
              <a:sym typeface="Exo"/>
            </a:endParaRPr>
          </a:p>
        </p:txBody>
      </p:sp>
      <p:sp>
        <p:nvSpPr>
          <p:cNvPr id="425" name="Google Shape;425;p57"/>
          <p:cNvSpPr txBox="1"/>
          <p:nvPr/>
        </p:nvSpPr>
        <p:spPr>
          <a:xfrm>
            <a:off x="1736172" y="3132753"/>
            <a:ext cx="1772100"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Exo"/>
                <a:ea typeface="Exo"/>
                <a:cs typeface="Exo"/>
                <a:sym typeface="Exo"/>
              </a:rPr>
              <a:t>Normalizing data elements</a:t>
            </a:r>
            <a:endParaRPr dirty="0">
              <a:solidFill>
                <a:schemeClr val="dk1"/>
              </a:solidFill>
              <a:latin typeface="Exo"/>
              <a:ea typeface="Exo"/>
              <a:cs typeface="Exo"/>
              <a:sym typeface="Exo"/>
            </a:endParaRPr>
          </a:p>
        </p:txBody>
      </p:sp>
      <p:sp>
        <p:nvSpPr>
          <p:cNvPr id="426" name="Google Shape;426;p57"/>
          <p:cNvSpPr txBox="1"/>
          <p:nvPr/>
        </p:nvSpPr>
        <p:spPr>
          <a:xfrm>
            <a:off x="382221" y="4022800"/>
            <a:ext cx="1485600"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Exo"/>
                <a:ea typeface="Exo"/>
                <a:cs typeface="Exo"/>
                <a:sym typeface="Exo"/>
              </a:rPr>
              <a:t>Collecting data requirements</a:t>
            </a:r>
            <a:endParaRPr dirty="0">
              <a:solidFill>
                <a:schemeClr val="dk1"/>
              </a:solidFill>
              <a:latin typeface="Exo"/>
              <a:ea typeface="Exo"/>
              <a:cs typeface="Exo"/>
              <a:sym typeface="Exo"/>
            </a:endParaRPr>
          </a:p>
        </p:txBody>
      </p:sp>
      <p:sp>
        <p:nvSpPr>
          <p:cNvPr id="427" name="Google Shape;427;p57"/>
          <p:cNvSpPr txBox="1"/>
          <p:nvPr/>
        </p:nvSpPr>
        <p:spPr>
          <a:xfrm>
            <a:off x="5327496" y="3359678"/>
            <a:ext cx="1914625"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Exo"/>
                <a:ea typeface="Exo"/>
                <a:cs typeface="Exo"/>
                <a:sym typeface="Exo"/>
              </a:rPr>
              <a:t>Searching crossponding archetypes</a:t>
            </a:r>
            <a:endParaRPr dirty="0">
              <a:solidFill>
                <a:schemeClr val="dk1"/>
              </a:solidFill>
              <a:latin typeface="Exo"/>
              <a:ea typeface="Exo"/>
              <a:cs typeface="Exo"/>
              <a:sym typeface="Exo"/>
            </a:endParaRPr>
          </a:p>
        </p:txBody>
      </p:sp>
      <p:sp>
        <p:nvSpPr>
          <p:cNvPr id="34" name="Google Shape;403;p57">
            <a:extLst>
              <a:ext uri="{FF2B5EF4-FFF2-40B4-BE49-F238E27FC236}">
                <a16:creationId xmlns:a16="http://schemas.microsoft.com/office/drawing/2014/main" id="{45DCE6C5-A7E1-4645-B94A-46BC01D8D026}"/>
              </a:ext>
            </a:extLst>
          </p:cNvPr>
          <p:cNvSpPr/>
          <p:nvPr/>
        </p:nvSpPr>
        <p:spPr>
          <a:xfrm rot="14619442">
            <a:off x="2650482" y="3459246"/>
            <a:ext cx="274135" cy="1017964"/>
          </a:xfrm>
          <a:custGeom>
            <a:avLst/>
            <a:gdLst/>
            <a:ahLst/>
            <a:cxnLst/>
            <a:rect l="l" t="t" r="r" b="b"/>
            <a:pathLst>
              <a:path w="38411" h="39928" extrusionOk="0">
                <a:moveTo>
                  <a:pt x="28811" y="1"/>
                </a:moveTo>
                <a:cubicBezTo>
                  <a:pt x="28510" y="1"/>
                  <a:pt x="28192" y="334"/>
                  <a:pt x="28373" y="695"/>
                </a:cubicBezTo>
                <a:cubicBezTo>
                  <a:pt x="30445" y="4791"/>
                  <a:pt x="34267" y="7780"/>
                  <a:pt x="36005" y="12078"/>
                </a:cubicBezTo>
                <a:cubicBezTo>
                  <a:pt x="37505" y="15792"/>
                  <a:pt x="36934" y="20150"/>
                  <a:pt x="34636" y="23424"/>
                </a:cubicBezTo>
                <a:cubicBezTo>
                  <a:pt x="34148" y="24115"/>
                  <a:pt x="33576" y="24770"/>
                  <a:pt x="32921" y="25329"/>
                </a:cubicBezTo>
                <a:cubicBezTo>
                  <a:pt x="32838" y="25401"/>
                  <a:pt x="32743" y="25484"/>
                  <a:pt x="32647" y="25556"/>
                </a:cubicBezTo>
                <a:cubicBezTo>
                  <a:pt x="32629" y="25574"/>
                  <a:pt x="32532" y="25649"/>
                  <a:pt x="32528" y="25649"/>
                </a:cubicBezTo>
                <a:cubicBezTo>
                  <a:pt x="32527" y="25649"/>
                  <a:pt x="32533" y="25643"/>
                  <a:pt x="32552" y="25627"/>
                </a:cubicBezTo>
                <a:lnTo>
                  <a:pt x="32552" y="25627"/>
                </a:lnTo>
                <a:cubicBezTo>
                  <a:pt x="32493" y="25675"/>
                  <a:pt x="32421" y="25734"/>
                  <a:pt x="32362" y="25782"/>
                </a:cubicBezTo>
                <a:cubicBezTo>
                  <a:pt x="32124" y="25960"/>
                  <a:pt x="31874" y="26127"/>
                  <a:pt x="31612" y="26294"/>
                </a:cubicBezTo>
                <a:cubicBezTo>
                  <a:pt x="30361" y="27115"/>
                  <a:pt x="29016" y="27818"/>
                  <a:pt x="27671" y="28484"/>
                </a:cubicBezTo>
                <a:cubicBezTo>
                  <a:pt x="23944" y="30306"/>
                  <a:pt x="20051" y="31830"/>
                  <a:pt x="16169" y="33318"/>
                </a:cubicBezTo>
                <a:cubicBezTo>
                  <a:pt x="11538" y="35092"/>
                  <a:pt x="6859" y="36759"/>
                  <a:pt x="2167" y="38414"/>
                </a:cubicBezTo>
                <a:cubicBezTo>
                  <a:pt x="1560" y="38629"/>
                  <a:pt x="965" y="38843"/>
                  <a:pt x="370" y="39069"/>
                </a:cubicBezTo>
                <a:cubicBezTo>
                  <a:pt x="155" y="39152"/>
                  <a:pt x="1" y="39367"/>
                  <a:pt x="72" y="39605"/>
                </a:cubicBezTo>
                <a:cubicBezTo>
                  <a:pt x="122" y="39796"/>
                  <a:pt x="309" y="39928"/>
                  <a:pt x="502" y="39928"/>
                </a:cubicBezTo>
                <a:cubicBezTo>
                  <a:pt x="537" y="39928"/>
                  <a:pt x="573" y="39924"/>
                  <a:pt x="608" y="39914"/>
                </a:cubicBezTo>
                <a:cubicBezTo>
                  <a:pt x="1846" y="39522"/>
                  <a:pt x="3072" y="39069"/>
                  <a:pt x="4299" y="38640"/>
                </a:cubicBezTo>
                <a:cubicBezTo>
                  <a:pt x="5501" y="38224"/>
                  <a:pt x="6704" y="37795"/>
                  <a:pt x="7906" y="37366"/>
                </a:cubicBezTo>
                <a:cubicBezTo>
                  <a:pt x="10288" y="36521"/>
                  <a:pt x="12669" y="35664"/>
                  <a:pt x="15026" y="34783"/>
                </a:cubicBezTo>
                <a:cubicBezTo>
                  <a:pt x="19146" y="33247"/>
                  <a:pt x="23242" y="31640"/>
                  <a:pt x="27206" y="29758"/>
                </a:cubicBezTo>
                <a:cubicBezTo>
                  <a:pt x="28671" y="29068"/>
                  <a:pt x="30123" y="28330"/>
                  <a:pt x="31493" y="27484"/>
                </a:cubicBezTo>
                <a:cubicBezTo>
                  <a:pt x="32647" y="26770"/>
                  <a:pt x="33731" y="25972"/>
                  <a:pt x="34612" y="24948"/>
                </a:cubicBezTo>
                <a:cubicBezTo>
                  <a:pt x="37327" y="21817"/>
                  <a:pt x="38410" y="17340"/>
                  <a:pt x="37362" y="13316"/>
                </a:cubicBezTo>
                <a:cubicBezTo>
                  <a:pt x="36196" y="8792"/>
                  <a:pt x="32493" y="5684"/>
                  <a:pt x="30088" y="1862"/>
                </a:cubicBezTo>
                <a:cubicBezTo>
                  <a:pt x="29754" y="1338"/>
                  <a:pt x="29445" y="791"/>
                  <a:pt x="29159" y="231"/>
                </a:cubicBezTo>
                <a:cubicBezTo>
                  <a:pt x="29078" y="68"/>
                  <a:pt x="28946" y="1"/>
                  <a:pt x="288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26;p57">
            <a:extLst>
              <a:ext uri="{FF2B5EF4-FFF2-40B4-BE49-F238E27FC236}">
                <a16:creationId xmlns:a16="http://schemas.microsoft.com/office/drawing/2014/main" id="{B233966C-4586-4FFA-AE96-B820F8B9F2BE}"/>
              </a:ext>
            </a:extLst>
          </p:cNvPr>
          <p:cNvSpPr txBox="1"/>
          <p:nvPr/>
        </p:nvSpPr>
        <p:spPr>
          <a:xfrm>
            <a:off x="2689388" y="2185542"/>
            <a:ext cx="1637769"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Exo"/>
                <a:ea typeface="Exo"/>
                <a:cs typeface="Exo"/>
                <a:sym typeface="Exo"/>
              </a:rPr>
              <a:t>Organizing domain concepts</a:t>
            </a:r>
            <a:endParaRPr dirty="0">
              <a:solidFill>
                <a:schemeClr val="dk1"/>
              </a:solidFill>
              <a:latin typeface="Exo"/>
              <a:ea typeface="Exo"/>
              <a:cs typeface="Exo"/>
              <a:sym typeface="Exo"/>
            </a:endParaRPr>
          </a:p>
        </p:txBody>
      </p:sp>
      <p:sp>
        <p:nvSpPr>
          <p:cNvPr id="37" name="Google Shape;418;p57">
            <a:extLst>
              <a:ext uri="{FF2B5EF4-FFF2-40B4-BE49-F238E27FC236}">
                <a16:creationId xmlns:a16="http://schemas.microsoft.com/office/drawing/2014/main" id="{59033FD3-10FE-42D1-8876-65B4C7665E09}"/>
              </a:ext>
            </a:extLst>
          </p:cNvPr>
          <p:cNvSpPr/>
          <p:nvPr/>
        </p:nvSpPr>
        <p:spPr>
          <a:xfrm>
            <a:off x="1876480" y="4156350"/>
            <a:ext cx="376800" cy="324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19;p57">
            <a:extLst>
              <a:ext uri="{FF2B5EF4-FFF2-40B4-BE49-F238E27FC236}">
                <a16:creationId xmlns:a16="http://schemas.microsoft.com/office/drawing/2014/main" id="{18FE1208-C2D3-4662-B2CE-48D11DB37B70}"/>
              </a:ext>
            </a:extLst>
          </p:cNvPr>
          <p:cNvSpPr/>
          <p:nvPr/>
        </p:nvSpPr>
        <p:spPr>
          <a:xfrm>
            <a:off x="1969699" y="4223467"/>
            <a:ext cx="186900" cy="186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24;p57">
            <a:extLst>
              <a:ext uri="{FF2B5EF4-FFF2-40B4-BE49-F238E27FC236}">
                <a16:creationId xmlns:a16="http://schemas.microsoft.com/office/drawing/2014/main" id="{31731A3A-9294-4E6E-870C-852EAD2C80DD}"/>
              </a:ext>
            </a:extLst>
          </p:cNvPr>
          <p:cNvSpPr txBox="1"/>
          <p:nvPr/>
        </p:nvSpPr>
        <p:spPr>
          <a:xfrm>
            <a:off x="5971535" y="2129970"/>
            <a:ext cx="1772100" cy="482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dk1"/>
                </a:solidFill>
                <a:latin typeface="Exo"/>
                <a:ea typeface="Exo"/>
                <a:cs typeface="Exo"/>
                <a:sym typeface="Exo"/>
              </a:rPr>
              <a:t>Reviewing archetypes</a:t>
            </a:r>
            <a:endParaRPr dirty="0">
              <a:solidFill>
                <a:schemeClr val="dk1"/>
              </a:solidFill>
              <a:latin typeface="Exo"/>
              <a:ea typeface="Exo"/>
              <a:cs typeface="Exo"/>
              <a:sym typeface="Exo"/>
            </a:endParaRPr>
          </a:p>
        </p:txBody>
      </p:sp>
    </p:spTree>
    <p:extLst>
      <p:ext uri="{BB962C8B-B14F-4D97-AF65-F5344CB8AC3E}">
        <p14:creationId xmlns:p14="http://schemas.microsoft.com/office/powerpoint/2010/main" val="1804796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t="12219" r="23171" b="12068"/>
          <a:stretch/>
        </p:blipFill>
        <p:spPr>
          <a:xfrm flipH="1">
            <a:off x="4323101" y="430475"/>
            <a:ext cx="4782524" cy="4713024"/>
          </a:xfrm>
          <a:prstGeom prst="rect">
            <a:avLst/>
          </a:prstGeom>
          <a:noFill/>
          <a:ln>
            <a:noFill/>
          </a:ln>
        </p:spPr>
      </p:pic>
      <p:sp>
        <p:nvSpPr>
          <p:cNvPr id="284" name="Google Shape;284;p46"/>
          <p:cNvSpPr txBox="1">
            <a:spLocks noGrp="1"/>
          </p:cNvSpPr>
          <p:nvPr>
            <p:ph type="title"/>
          </p:nvPr>
        </p:nvSpPr>
        <p:spPr>
          <a:xfrm>
            <a:off x="720000" y="1839825"/>
            <a:ext cx="3739200" cy="191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400" dirty="0"/>
              <a:t>Collecting data requirements</a:t>
            </a:r>
            <a:endParaRPr sz="4400" dirty="0"/>
          </a:p>
        </p:txBody>
      </p:sp>
      <p:sp>
        <p:nvSpPr>
          <p:cNvPr id="285" name="Google Shape;285;p46"/>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287" name="Google Shape;287;p46"/>
          <p:cNvSpPr/>
          <p:nvPr/>
        </p:nvSpPr>
        <p:spPr>
          <a:xfrm>
            <a:off x="8042675" y="2442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46"/>
          <p:cNvCxnSpPr/>
          <p:nvPr/>
        </p:nvCxnSpPr>
        <p:spPr>
          <a:xfrm>
            <a:off x="780087" y="3679913"/>
            <a:ext cx="2137500" cy="0"/>
          </a:xfrm>
          <a:prstGeom prst="straightConnector1">
            <a:avLst/>
          </a:prstGeom>
          <a:noFill/>
          <a:ln w="19050" cap="flat" cmpd="sng">
            <a:solidFill>
              <a:srgbClr val="DADACE"/>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63"/>
          <p:cNvSpPr/>
          <p:nvPr/>
        </p:nvSpPr>
        <p:spPr>
          <a:xfrm>
            <a:off x="6754834" y="1831020"/>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3"/>
          <p:cNvSpPr/>
          <p:nvPr/>
        </p:nvSpPr>
        <p:spPr>
          <a:xfrm>
            <a:off x="4029720"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3"/>
          <p:cNvSpPr/>
          <p:nvPr/>
        </p:nvSpPr>
        <p:spPr>
          <a:xfrm>
            <a:off x="1372166" y="189060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Key accomplishments</a:t>
            </a:r>
            <a:endParaRPr dirty="0"/>
          </a:p>
        </p:txBody>
      </p:sp>
      <p:sp>
        <p:nvSpPr>
          <p:cNvPr id="578" name="Google Shape;578;p63"/>
          <p:cNvSpPr txBox="1">
            <a:spLocks noGrp="1"/>
          </p:cNvSpPr>
          <p:nvPr>
            <p:ph type="title" idx="2"/>
          </p:nvPr>
        </p:nvSpPr>
        <p:spPr>
          <a:xfrm>
            <a:off x="451387" y="3018661"/>
            <a:ext cx="2879125" cy="26873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Sorces of data requirements</a:t>
            </a:r>
            <a:endParaRPr sz="1800" dirty="0"/>
          </a:p>
        </p:txBody>
      </p:sp>
      <p:sp>
        <p:nvSpPr>
          <p:cNvPr id="579" name="Google Shape;579;p63"/>
          <p:cNvSpPr txBox="1">
            <a:spLocks noGrp="1"/>
          </p:cNvSpPr>
          <p:nvPr>
            <p:ph type="subTitle" idx="1"/>
          </p:nvPr>
        </p:nvSpPr>
        <p:spPr>
          <a:xfrm>
            <a:off x="518775" y="3722053"/>
            <a:ext cx="2471852" cy="5538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effectLst/>
                <a:ea typeface="Times New Roman" panose="02020603050405020304" pitchFamily="18" charset="0"/>
              </a:rPr>
              <a:t>Two existing EHR systems have been interpreted. </a:t>
            </a:r>
            <a:r>
              <a:rPr lang="en-US" dirty="0"/>
              <a:t>First is implemented in more than 1000 hospitals and the other is developed as national project</a:t>
            </a:r>
          </a:p>
        </p:txBody>
      </p:sp>
      <p:sp>
        <p:nvSpPr>
          <p:cNvPr id="580" name="Google Shape;580;p63"/>
          <p:cNvSpPr txBox="1">
            <a:spLocks noGrp="1"/>
          </p:cNvSpPr>
          <p:nvPr>
            <p:ph type="title" idx="3"/>
          </p:nvPr>
        </p:nvSpPr>
        <p:spPr>
          <a:xfrm>
            <a:off x="3397900" y="2989371"/>
            <a:ext cx="2342651" cy="32436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Compining data fields </a:t>
            </a:r>
            <a:endParaRPr sz="1800" dirty="0"/>
          </a:p>
        </p:txBody>
      </p:sp>
      <p:sp>
        <p:nvSpPr>
          <p:cNvPr id="581" name="Google Shape;581;p63"/>
          <p:cNvSpPr txBox="1">
            <a:spLocks noGrp="1"/>
          </p:cNvSpPr>
          <p:nvPr>
            <p:ph type="subTitle" idx="4"/>
          </p:nvPr>
        </p:nvSpPr>
        <p:spPr>
          <a:xfrm>
            <a:off x="3352265" y="3386200"/>
            <a:ext cx="2588560" cy="1054833"/>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US" dirty="0">
                <a:ea typeface="Times New Roman" panose="02020603050405020304" pitchFamily="18" charset="0"/>
              </a:rPr>
              <a:t>R</a:t>
            </a:r>
            <a:r>
              <a:rPr lang="en-US" dirty="0">
                <a:effectLst/>
                <a:ea typeface="Times New Roman" panose="02020603050405020304" pitchFamily="18" charset="0"/>
              </a:rPr>
              <a:t>elational tables were collected as the data elements required in an EHR. </a:t>
            </a:r>
            <a:r>
              <a:rPr lang="en-US" dirty="0"/>
              <a:t>Tables</a:t>
            </a:r>
            <a:r>
              <a:rPr lang="en-US" dirty="0">
                <a:effectLst/>
                <a:ea typeface="Times New Roman" panose="02020603050405020304" pitchFamily="18" charset="0"/>
              </a:rPr>
              <a:t> were designed to support specific business logics</a:t>
            </a:r>
            <a:r>
              <a:rPr lang="en-US" dirty="0"/>
              <a:t> </a:t>
            </a:r>
            <a:endParaRPr dirty="0"/>
          </a:p>
        </p:txBody>
      </p:sp>
      <p:sp>
        <p:nvSpPr>
          <p:cNvPr id="582" name="Google Shape;582;p63"/>
          <p:cNvSpPr txBox="1">
            <a:spLocks noGrp="1"/>
          </p:cNvSpPr>
          <p:nvPr>
            <p:ph type="title" idx="5"/>
          </p:nvPr>
        </p:nvSpPr>
        <p:spPr>
          <a:xfrm>
            <a:off x="5908843" y="2989371"/>
            <a:ext cx="2963288" cy="32436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t>O</a:t>
            </a:r>
            <a:r>
              <a:rPr lang="en" sz="1800" dirty="0"/>
              <a:t>rganizing domain concepts</a:t>
            </a:r>
            <a:endParaRPr sz="1800" dirty="0"/>
          </a:p>
        </p:txBody>
      </p:sp>
      <p:sp>
        <p:nvSpPr>
          <p:cNvPr id="583" name="Google Shape;583;p63"/>
          <p:cNvSpPr txBox="1">
            <a:spLocks noGrp="1"/>
          </p:cNvSpPr>
          <p:nvPr>
            <p:ph type="subTitle" idx="6"/>
          </p:nvPr>
        </p:nvSpPr>
        <p:spPr>
          <a:xfrm>
            <a:off x="6107844" y="3722053"/>
            <a:ext cx="2588560" cy="48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effectLst/>
                <a:ea typeface="Times New Roman" panose="02020603050405020304" pitchFamily="18" charset="0"/>
              </a:rPr>
              <a:t>Categories used to group the tables first so that it contains all the involved data elements, and then organize these data elements into domain concepts </a:t>
            </a:r>
            <a:endParaRPr dirty="0"/>
          </a:p>
        </p:txBody>
      </p:sp>
      <p:grpSp>
        <p:nvGrpSpPr>
          <p:cNvPr id="584" name="Google Shape;584;p63"/>
          <p:cNvGrpSpPr/>
          <p:nvPr/>
        </p:nvGrpSpPr>
        <p:grpSpPr>
          <a:xfrm>
            <a:off x="7086272" y="2187947"/>
            <a:ext cx="354136" cy="334348"/>
            <a:chOff x="-25844850" y="2357750"/>
            <a:chExt cx="296175" cy="279625"/>
          </a:xfrm>
        </p:grpSpPr>
        <p:sp>
          <p:nvSpPr>
            <p:cNvPr id="585" name="Google Shape;585;p63"/>
            <p:cNvSpPr/>
            <p:nvPr/>
          </p:nvSpPr>
          <p:spPr>
            <a:xfrm>
              <a:off x="-25792075" y="2428625"/>
              <a:ext cx="191425" cy="208750"/>
            </a:xfrm>
            <a:custGeom>
              <a:avLst/>
              <a:gdLst/>
              <a:ahLst/>
              <a:cxnLst/>
              <a:rect l="l" t="t" r="r" b="b"/>
              <a:pathLst>
                <a:path w="7657" h="8350" extrusionOk="0">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6" name="Google Shape;586;p63"/>
            <p:cNvSpPr/>
            <p:nvPr/>
          </p:nvSpPr>
          <p:spPr>
            <a:xfrm>
              <a:off x="-25602250" y="2497950"/>
              <a:ext cx="53575" cy="17350"/>
            </a:xfrm>
            <a:custGeom>
              <a:avLst/>
              <a:gdLst/>
              <a:ahLst/>
              <a:cxnLst/>
              <a:rect l="l" t="t" r="r" b="b"/>
              <a:pathLst>
                <a:path w="2143" h="694" extrusionOk="0">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7" name="Google Shape;587;p63"/>
            <p:cNvSpPr/>
            <p:nvPr/>
          </p:nvSpPr>
          <p:spPr>
            <a:xfrm>
              <a:off x="-25844850" y="2497950"/>
              <a:ext cx="52800" cy="17350"/>
            </a:xfrm>
            <a:custGeom>
              <a:avLst/>
              <a:gdLst/>
              <a:ahLst/>
              <a:cxnLst/>
              <a:rect l="l" t="t" r="r" b="b"/>
              <a:pathLst>
                <a:path w="2112" h="694" extrusionOk="0">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8" name="Google Shape;588;p63"/>
            <p:cNvSpPr/>
            <p:nvPr/>
          </p:nvSpPr>
          <p:spPr>
            <a:xfrm>
              <a:off x="-25706225" y="2357750"/>
              <a:ext cx="17350" cy="53575"/>
            </a:xfrm>
            <a:custGeom>
              <a:avLst/>
              <a:gdLst/>
              <a:ahLst/>
              <a:cxnLst/>
              <a:rect l="l" t="t" r="r" b="b"/>
              <a:pathLst>
                <a:path w="694" h="2143" extrusionOk="0">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9" name="Google Shape;589;p63"/>
            <p:cNvSpPr/>
            <p:nvPr/>
          </p:nvSpPr>
          <p:spPr>
            <a:xfrm>
              <a:off x="-25804675" y="2400275"/>
              <a:ext cx="42550" cy="41775"/>
            </a:xfrm>
            <a:custGeom>
              <a:avLst/>
              <a:gdLst/>
              <a:ahLst/>
              <a:cxnLst/>
              <a:rect l="l" t="t" r="r" b="b"/>
              <a:pathLst>
                <a:path w="1702" h="1671" extrusionOk="0">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90" name="Google Shape;590;p63"/>
            <p:cNvSpPr/>
            <p:nvPr/>
          </p:nvSpPr>
          <p:spPr>
            <a:xfrm>
              <a:off x="-25632175" y="2400275"/>
              <a:ext cx="41750" cy="41775"/>
            </a:xfrm>
            <a:custGeom>
              <a:avLst/>
              <a:gdLst/>
              <a:ahLst/>
              <a:cxnLst/>
              <a:rect l="l" t="t" r="r" b="b"/>
              <a:pathLst>
                <a:path w="1670" h="1671" extrusionOk="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grpSp>
      <p:grpSp>
        <p:nvGrpSpPr>
          <p:cNvPr id="591" name="Google Shape;591;p63"/>
          <p:cNvGrpSpPr/>
          <p:nvPr/>
        </p:nvGrpSpPr>
        <p:grpSpPr>
          <a:xfrm>
            <a:off x="4366930" y="2208531"/>
            <a:ext cx="342580" cy="339271"/>
            <a:chOff x="5049725" y="1435050"/>
            <a:chExt cx="486550" cy="481850"/>
          </a:xfrm>
        </p:grpSpPr>
        <p:sp>
          <p:nvSpPr>
            <p:cNvPr id="592" name="Google Shape;592;p6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 name="Google Shape;593;p6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 name="Google Shape;594;p6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 name="Google Shape;595;p6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6" name="Google Shape;596;p63"/>
          <p:cNvGrpSpPr/>
          <p:nvPr/>
        </p:nvGrpSpPr>
        <p:grpSpPr>
          <a:xfrm>
            <a:off x="1723224" y="2241057"/>
            <a:ext cx="351024" cy="347301"/>
            <a:chOff x="946175" y="3619500"/>
            <a:chExt cx="296975" cy="293825"/>
          </a:xfrm>
        </p:grpSpPr>
        <p:sp>
          <p:nvSpPr>
            <p:cNvPr id="597" name="Google Shape;597;p63"/>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3"/>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3"/>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63"/>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3"/>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3"/>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03" name="Google Shape;603;p63"/>
          <p:cNvCxnSpPr/>
          <p:nvPr/>
        </p:nvCxnSpPr>
        <p:spPr>
          <a:xfrm>
            <a:off x="1725558" y="4750167"/>
            <a:ext cx="5677200" cy="0"/>
          </a:xfrm>
          <a:prstGeom prst="straightConnector1">
            <a:avLst/>
          </a:prstGeom>
          <a:noFill/>
          <a:ln w="19050" cap="flat" cmpd="sng">
            <a:solidFill>
              <a:srgbClr val="DADACE"/>
            </a:solidFill>
            <a:prstDash val="solid"/>
            <a:round/>
            <a:headEnd type="none" w="med" len="med"/>
            <a:tailEnd type="none" w="med" len="med"/>
          </a:ln>
        </p:spPr>
      </p:cxnSp>
      <p:grpSp>
        <p:nvGrpSpPr>
          <p:cNvPr id="604" name="Google Shape;604;p63"/>
          <p:cNvGrpSpPr/>
          <p:nvPr/>
        </p:nvGrpSpPr>
        <p:grpSpPr>
          <a:xfrm>
            <a:off x="1725400" y="1251601"/>
            <a:ext cx="5676724" cy="334356"/>
            <a:chOff x="1524913" y="922950"/>
            <a:chExt cx="6094175" cy="564600"/>
          </a:xfrm>
        </p:grpSpPr>
        <p:cxnSp>
          <p:nvCxnSpPr>
            <p:cNvPr id="605" name="Google Shape;605;p63"/>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606" name="Google Shape;606;p63"/>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Tree>
    <p:extLst>
      <p:ext uri="{BB962C8B-B14F-4D97-AF65-F5344CB8AC3E}">
        <p14:creationId xmlns:p14="http://schemas.microsoft.com/office/powerpoint/2010/main" val="221765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t="12219" r="23171" b="12068"/>
          <a:stretch/>
        </p:blipFill>
        <p:spPr>
          <a:xfrm flipH="1">
            <a:off x="4323101" y="430475"/>
            <a:ext cx="4782524" cy="4713024"/>
          </a:xfrm>
          <a:prstGeom prst="rect">
            <a:avLst/>
          </a:prstGeom>
          <a:noFill/>
          <a:ln>
            <a:noFill/>
          </a:ln>
        </p:spPr>
      </p:pic>
      <p:sp>
        <p:nvSpPr>
          <p:cNvPr id="284" name="Google Shape;284;p46"/>
          <p:cNvSpPr txBox="1">
            <a:spLocks noGrp="1"/>
          </p:cNvSpPr>
          <p:nvPr>
            <p:ph type="title"/>
          </p:nvPr>
        </p:nvSpPr>
        <p:spPr>
          <a:xfrm>
            <a:off x="720000" y="1839825"/>
            <a:ext cx="3739200" cy="191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400" dirty="0"/>
              <a:t>Normalizing data elements</a:t>
            </a:r>
            <a:endParaRPr sz="4400" dirty="0"/>
          </a:p>
        </p:txBody>
      </p:sp>
      <p:sp>
        <p:nvSpPr>
          <p:cNvPr id="285" name="Google Shape;285;p46"/>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287" name="Google Shape;287;p46"/>
          <p:cNvSpPr/>
          <p:nvPr/>
        </p:nvSpPr>
        <p:spPr>
          <a:xfrm>
            <a:off x="8042675" y="2442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46"/>
          <p:cNvCxnSpPr/>
          <p:nvPr/>
        </p:nvCxnSpPr>
        <p:spPr>
          <a:xfrm>
            <a:off x="780087" y="3679913"/>
            <a:ext cx="2137500" cy="0"/>
          </a:xfrm>
          <a:prstGeom prst="straightConnector1">
            <a:avLst/>
          </a:prstGeom>
          <a:noFill/>
          <a:ln w="19050" cap="flat" cmpd="sng">
            <a:solidFill>
              <a:srgbClr val="DADACE"/>
            </a:solidFill>
            <a:prstDash val="solid"/>
            <a:round/>
            <a:headEnd type="none" w="med" len="med"/>
            <a:tailEnd type="none" w="med" len="med"/>
          </a:ln>
        </p:spPr>
      </p:cxnSp>
    </p:spTree>
    <p:extLst>
      <p:ext uri="{BB962C8B-B14F-4D97-AF65-F5344CB8AC3E}">
        <p14:creationId xmlns:p14="http://schemas.microsoft.com/office/powerpoint/2010/main" val="761747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54"/>
          <p:cNvPicPr preferRelativeResize="0"/>
          <p:nvPr/>
        </p:nvPicPr>
        <p:blipFill rotWithShape="1">
          <a:blip r:embed="rId3">
            <a:alphaModFix/>
          </a:blip>
          <a:srcRect l="42259" t="36966" r="23813" b="23022"/>
          <a:stretch/>
        </p:blipFill>
        <p:spPr>
          <a:xfrm>
            <a:off x="5634050" y="2972725"/>
            <a:ext cx="1433650" cy="1690800"/>
          </a:xfrm>
          <a:prstGeom prst="rect">
            <a:avLst/>
          </a:prstGeom>
          <a:noFill/>
          <a:ln>
            <a:noFill/>
          </a:ln>
        </p:spPr>
      </p:pic>
      <p:pic>
        <p:nvPicPr>
          <p:cNvPr id="356" name="Google Shape;356;p54"/>
          <p:cNvPicPr preferRelativeResize="0"/>
          <p:nvPr/>
        </p:nvPicPr>
        <p:blipFill rotWithShape="1">
          <a:blip r:embed="rId3">
            <a:alphaModFix/>
          </a:blip>
          <a:srcRect l="10117" t="20845" r="55955" b="39142"/>
          <a:stretch/>
        </p:blipFill>
        <p:spPr>
          <a:xfrm rot="-5400000">
            <a:off x="1534275" y="2753300"/>
            <a:ext cx="1433650" cy="1690800"/>
          </a:xfrm>
          <a:prstGeom prst="rect">
            <a:avLst/>
          </a:prstGeom>
          <a:noFill/>
          <a:ln>
            <a:noFill/>
          </a:ln>
        </p:spPr>
      </p:pic>
      <p:sp>
        <p:nvSpPr>
          <p:cNvPr id="357" name="Google Shape;357;p54"/>
          <p:cNvSpPr/>
          <p:nvPr/>
        </p:nvSpPr>
        <p:spPr>
          <a:xfrm>
            <a:off x="2076313" y="1421975"/>
            <a:ext cx="1969200" cy="1690800"/>
          </a:xfrm>
          <a:prstGeom prst="roundRect">
            <a:avLst>
              <a:gd name="adj" fmla="val 16667"/>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Key numbers</a:t>
            </a:r>
            <a:endParaRPr dirty="0"/>
          </a:p>
        </p:txBody>
      </p:sp>
      <p:sp>
        <p:nvSpPr>
          <p:cNvPr id="359" name="Google Shape;359;p54"/>
          <p:cNvSpPr txBox="1"/>
          <p:nvPr/>
        </p:nvSpPr>
        <p:spPr>
          <a:xfrm>
            <a:off x="2274163" y="1659075"/>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solidFill>
                  <a:schemeClr val="dk1"/>
                </a:solidFill>
                <a:latin typeface="Prata"/>
              </a:rPr>
              <a:t>WS</a:t>
            </a:r>
            <a:r>
              <a:rPr lang="en-US" sz="1800" dirty="0">
                <a:effectLst/>
                <a:latin typeface="Times New Roman" panose="02020603050405020304" pitchFamily="18" charset="0"/>
                <a:ea typeface="Times New Roman" panose="02020603050405020304" pitchFamily="18" charset="0"/>
              </a:rPr>
              <a:t> </a:t>
            </a:r>
            <a:r>
              <a:rPr lang="en-US" sz="2000" b="1" dirty="0">
                <a:solidFill>
                  <a:schemeClr val="dk1"/>
                </a:solidFill>
                <a:latin typeface="Prata"/>
              </a:rPr>
              <a:t>363-2011</a:t>
            </a:r>
            <a:endParaRPr sz="2000" b="1" dirty="0">
              <a:solidFill>
                <a:schemeClr val="dk1"/>
              </a:solidFill>
              <a:latin typeface="Prata"/>
              <a:sym typeface="Prata"/>
            </a:endParaRPr>
          </a:p>
        </p:txBody>
      </p:sp>
      <p:sp>
        <p:nvSpPr>
          <p:cNvPr id="360" name="Google Shape;360;p54"/>
          <p:cNvSpPr txBox="1"/>
          <p:nvPr/>
        </p:nvSpPr>
        <p:spPr>
          <a:xfrm>
            <a:off x="2076313" y="2050575"/>
            <a:ext cx="1969200"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dk1"/>
                </a:solidFill>
                <a:latin typeface="Exo"/>
              </a:rPr>
              <a:t>Health data element dictionary</a:t>
            </a:r>
            <a:endParaRPr dirty="0">
              <a:solidFill>
                <a:schemeClr val="dk1"/>
              </a:solidFill>
              <a:latin typeface="Exo"/>
              <a:sym typeface="Exo"/>
            </a:endParaRPr>
          </a:p>
        </p:txBody>
      </p:sp>
      <p:sp>
        <p:nvSpPr>
          <p:cNvPr id="361" name="Google Shape;361;p54"/>
          <p:cNvSpPr/>
          <p:nvPr/>
        </p:nvSpPr>
        <p:spPr>
          <a:xfrm>
            <a:off x="3560263" y="2939350"/>
            <a:ext cx="1969200" cy="1574100"/>
          </a:xfrm>
          <a:prstGeom prst="roundRect">
            <a:avLst>
              <a:gd name="adj" fmla="val 16667"/>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4"/>
          <p:cNvSpPr txBox="1"/>
          <p:nvPr/>
        </p:nvSpPr>
        <p:spPr>
          <a:xfrm>
            <a:off x="3847975" y="3186591"/>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solidFill>
                  <a:schemeClr val="dk1"/>
                </a:solidFill>
                <a:latin typeface="Prata"/>
              </a:rPr>
              <a:t>WS 445-2014</a:t>
            </a:r>
            <a:endParaRPr sz="2000" b="1" dirty="0">
              <a:solidFill>
                <a:schemeClr val="dk1"/>
              </a:solidFill>
              <a:latin typeface="Prata"/>
              <a:sym typeface="Prata"/>
            </a:endParaRPr>
          </a:p>
        </p:txBody>
      </p:sp>
      <p:sp>
        <p:nvSpPr>
          <p:cNvPr id="363" name="Google Shape;363;p54"/>
          <p:cNvSpPr txBox="1"/>
          <p:nvPr/>
        </p:nvSpPr>
        <p:spPr>
          <a:xfrm>
            <a:off x="3587400" y="3522725"/>
            <a:ext cx="1969200" cy="83096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dk1"/>
                </a:solidFill>
                <a:latin typeface="Exo"/>
              </a:rPr>
              <a:t>Basic dataset of electronic medical record</a:t>
            </a:r>
            <a:endParaRPr dirty="0">
              <a:solidFill>
                <a:schemeClr val="dk1"/>
              </a:solidFill>
              <a:latin typeface="Exo"/>
              <a:sym typeface="Exo"/>
            </a:endParaRPr>
          </a:p>
        </p:txBody>
      </p:sp>
      <p:sp>
        <p:nvSpPr>
          <p:cNvPr id="364" name="Google Shape;364;p54"/>
          <p:cNvSpPr/>
          <p:nvPr/>
        </p:nvSpPr>
        <p:spPr>
          <a:xfrm>
            <a:off x="5098488" y="1466401"/>
            <a:ext cx="1969200" cy="1690800"/>
          </a:xfrm>
          <a:prstGeom prst="roundRect">
            <a:avLst>
              <a:gd name="adj" fmla="val 16667"/>
            </a:avLst>
          </a:prstGeom>
          <a:solidFill>
            <a:schemeClr val="dk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4"/>
          <p:cNvSpPr txBox="1"/>
          <p:nvPr/>
        </p:nvSpPr>
        <p:spPr>
          <a:xfrm>
            <a:off x="5296338" y="1775900"/>
            <a:ext cx="1573500" cy="391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dirty="0">
                <a:solidFill>
                  <a:schemeClr val="dk1"/>
                </a:solidFill>
                <a:latin typeface="Prata"/>
              </a:rPr>
              <a:t>WS 364-2011</a:t>
            </a:r>
            <a:endParaRPr sz="2000" b="1" dirty="0">
              <a:solidFill>
                <a:schemeClr val="dk1"/>
              </a:solidFill>
              <a:latin typeface="Prata"/>
              <a:sym typeface="Prata"/>
            </a:endParaRPr>
          </a:p>
        </p:txBody>
      </p:sp>
      <p:sp>
        <p:nvSpPr>
          <p:cNvPr id="366" name="Google Shape;366;p54"/>
          <p:cNvSpPr txBox="1"/>
          <p:nvPr/>
        </p:nvSpPr>
        <p:spPr>
          <a:xfrm>
            <a:off x="5098488" y="2141425"/>
            <a:ext cx="1969199" cy="83096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dirty="0">
                <a:solidFill>
                  <a:schemeClr val="dk1"/>
                </a:solidFill>
                <a:latin typeface="Exo"/>
              </a:rPr>
              <a:t>Classification and coding for value domain of health data element</a:t>
            </a:r>
            <a:endParaRPr dirty="0">
              <a:solidFill>
                <a:schemeClr val="dk1"/>
              </a:solidFill>
              <a:latin typeface="Exo"/>
              <a:sym typeface="Exo"/>
            </a:endParaRPr>
          </a:p>
        </p:txBody>
      </p:sp>
    </p:spTree>
    <p:extLst>
      <p:ext uri="{BB962C8B-B14F-4D97-AF65-F5344CB8AC3E}">
        <p14:creationId xmlns:p14="http://schemas.microsoft.com/office/powerpoint/2010/main" val="3960518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Contents of this template</a:t>
            </a:r>
            <a:endParaRPr dirty="0"/>
          </a:p>
        </p:txBody>
      </p:sp>
      <p:sp>
        <p:nvSpPr>
          <p:cNvPr id="249" name="Google Shape;249;p43"/>
          <p:cNvSpPr txBox="1">
            <a:spLocks noGrp="1"/>
          </p:cNvSpPr>
          <p:nvPr>
            <p:ph type="body" idx="1"/>
          </p:nvPr>
        </p:nvSpPr>
        <p:spPr>
          <a:xfrm>
            <a:off x="720000" y="1017725"/>
            <a:ext cx="7704000" cy="361442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chemeClr val="dk1"/>
                </a:solidFill>
              </a:rPr>
              <a:t>The rules for the normalization process are listed as follows</a:t>
            </a:r>
            <a:r>
              <a:rPr lang="en" sz="1400" dirty="0">
                <a:solidFill>
                  <a:schemeClr val="dk1"/>
                </a:solidFill>
              </a:rPr>
              <a:t>:</a:t>
            </a:r>
          </a:p>
          <a:p>
            <a:pPr marL="0" lvl="0" indent="0" algn="l" rtl="0">
              <a:spcBef>
                <a:spcPts val="0"/>
              </a:spcBef>
              <a:spcAft>
                <a:spcPts val="0"/>
              </a:spcAft>
              <a:buNone/>
            </a:pPr>
            <a:endParaRPr lang="en" sz="1400" dirty="0">
              <a:solidFill>
                <a:schemeClr val="dk1"/>
              </a:solidFill>
            </a:endParaRPr>
          </a:p>
          <a:p>
            <a:pPr marL="0" lvl="0" indent="0" algn="l" rtl="0">
              <a:spcBef>
                <a:spcPts val="0"/>
              </a:spcBef>
              <a:spcAft>
                <a:spcPts val="0"/>
              </a:spcAft>
              <a:buNone/>
            </a:pPr>
            <a:r>
              <a:rPr lang="en" sz="1400" dirty="0">
                <a:solidFill>
                  <a:schemeClr val="dk1"/>
                </a:solidFill>
              </a:rPr>
              <a:t> </a:t>
            </a:r>
            <a:endParaRPr sz="1400" dirty="0">
              <a:solidFill>
                <a:schemeClr val="dk1"/>
              </a:solidFill>
            </a:endParaRPr>
          </a:p>
          <a:p>
            <a:pPr marL="457200" lvl="0" indent="-304800" algn="l" rtl="0">
              <a:spcBef>
                <a:spcPts val="600"/>
              </a:spcBef>
              <a:spcAft>
                <a:spcPts val="0"/>
              </a:spcAft>
              <a:buClr>
                <a:schemeClr val="dk1"/>
              </a:buClr>
              <a:buSzPts val="1200"/>
              <a:buAutoNum type="arabicPeriod"/>
            </a:pPr>
            <a:r>
              <a:rPr lang="en-US" sz="1400" dirty="0">
                <a:solidFill>
                  <a:schemeClr val="dk1"/>
                </a:solidFill>
              </a:rPr>
              <a:t>If an EHR data element and a standard data element have the same semantics -&gt; EHR data element uses the definition of the standard data element (naming, coded value, value domain, etc.).</a:t>
            </a:r>
          </a:p>
          <a:p>
            <a:pPr marL="457200" lvl="0" indent="-304800" algn="l" rtl="0">
              <a:spcBef>
                <a:spcPts val="600"/>
              </a:spcBef>
              <a:spcAft>
                <a:spcPts val="0"/>
              </a:spcAft>
              <a:buClr>
                <a:schemeClr val="dk1"/>
              </a:buClr>
              <a:buSzPts val="1200"/>
              <a:buAutoNum type="arabicPeriod"/>
            </a:pPr>
            <a:r>
              <a:rPr lang="en" sz="1400" dirty="0">
                <a:solidFill>
                  <a:schemeClr val="dk1"/>
                </a:solidFill>
              </a:rPr>
              <a:t>An </a:t>
            </a:r>
            <a:r>
              <a:rPr lang="en-US" sz="1400" dirty="0">
                <a:solidFill>
                  <a:schemeClr val="dk1"/>
                </a:solidFill>
              </a:rPr>
              <a:t>If multiple EHR data elements correspond to one standard data element -&gt; these EHR data elements and the corresponding standard data element will both be reserved</a:t>
            </a:r>
            <a:r>
              <a:rPr lang="en" sz="1400" dirty="0">
                <a:solidFill>
                  <a:schemeClr val="dk1"/>
                </a:solidFill>
              </a:rPr>
              <a:t>.</a:t>
            </a:r>
            <a:endParaRPr sz="1400" dirty="0">
              <a:solidFill>
                <a:schemeClr val="dk1"/>
              </a:solidFill>
            </a:endParaRPr>
          </a:p>
          <a:p>
            <a:pPr marL="457200" lvl="0" indent="-304800" algn="l" rtl="0">
              <a:spcBef>
                <a:spcPts val="600"/>
              </a:spcBef>
              <a:spcAft>
                <a:spcPts val="0"/>
              </a:spcAft>
              <a:buClr>
                <a:schemeClr val="dk1"/>
              </a:buClr>
              <a:buSzPts val="1200"/>
              <a:buAutoNum type="arabicPeriod"/>
            </a:pPr>
            <a:r>
              <a:rPr lang="en-US" sz="1400" dirty="0">
                <a:solidFill>
                  <a:schemeClr val="dk1"/>
                </a:solidFill>
              </a:rPr>
              <a:t>If an EHR data element corresponds to multiple standard data elements and the semantics of the EHR data element can be represented entirely by these standard data elements</a:t>
            </a:r>
            <a:r>
              <a:rPr lang="en" sz="1400" dirty="0">
                <a:solidFill>
                  <a:schemeClr val="dk1"/>
                </a:solidFill>
              </a:rPr>
              <a:t> -&gt; </a:t>
            </a:r>
            <a:r>
              <a:rPr lang="en-US" sz="1400" dirty="0">
                <a:solidFill>
                  <a:schemeClr val="dk1"/>
                </a:solidFill>
              </a:rPr>
              <a:t>EHR data element is replaced by the standard data elements.</a:t>
            </a:r>
            <a:endParaRPr sz="1400" dirty="0">
              <a:solidFill>
                <a:schemeClr val="dk1"/>
              </a:solidFill>
            </a:endParaRPr>
          </a:p>
        </p:txBody>
      </p:sp>
    </p:spTree>
    <p:extLst>
      <p:ext uri="{BB962C8B-B14F-4D97-AF65-F5344CB8AC3E}">
        <p14:creationId xmlns:p14="http://schemas.microsoft.com/office/powerpoint/2010/main" val="1950211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t="12219" r="23171" b="12068"/>
          <a:stretch/>
        </p:blipFill>
        <p:spPr>
          <a:xfrm flipH="1">
            <a:off x="4323101" y="430475"/>
            <a:ext cx="4782524" cy="4713024"/>
          </a:xfrm>
          <a:prstGeom prst="rect">
            <a:avLst/>
          </a:prstGeom>
          <a:noFill/>
          <a:ln>
            <a:noFill/>
          </a:ln>
        </p:spPr>
      </p:pic>
      <p:sp>
        <p:nvSpPr>
          <p:cNvPr id="284" name="Google Shape;284;p46"/>
          <p:cNvSpPr txBox="1">
            <a:spLocks noGrp="1"/>
          </p:cNvSpPr>
          <p:nvPr>
            <p:ph type="title"/>
          </p:nvPr>
        </p:nvSpPr>
        <p:spPr>
          <a:xfrm>
            <a:off x="475207" y="1829237"/>
            <a:ext cx="4196245" cy="191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4400" dirty="0"/>
              <a:t>Organizing domain concepts</a:t>
            </a:r>
            <a:endParaRPr sz="4400" dirty="0"/>
          </a:p>
        </p:txBody>
      </p:sp>
      <p:sp>
        <p:nvSpPr>
          <p:cNvPr id="285" name="Google Shape;285;p46"/>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287" name="Google Shape;287;p46"/>
          <p:cNvSpPr/>
          <p:nvPr/>
        </p:nvSpPr>
        <p:spPr>
          <a:xfrm>
            <a:off x="8042675" y="2442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46"/>
          <p:cNvCxnSpPr/>
          <p:nvPr/>
        </p:nvCxnSpPr>
        <p:spPr>
          <a:xfrm>
            <a:off x="780087" y="3679913"/>
            <a:ext cx="2137500" cy="0"/>
          </a:xfrm>
          <a:prstGeom prst="straightConnector1">
            <a:avLst/>
          </a:prstGeom>
          <a:noFill/>
          <a:ln w="19050" cap="flat" cmpd="sng">
            <a:solidFill>
              <a:srgbClr val="DADACE"/>
            </a:solidFill>
            <a:prstDash val="solid"/>
            <a:round/>
            <a:headEnd type="none" w="med" len="med"/>
            <a:tailEnd type="none" w="med" len="med"/>
          </a:ln>
        </p:spPr>
      </p:cxnSp>
    </p:spTree>
    <p:extLst>
      <p:ext uri="{BB962C8B-B14F-4D97-AF65-F5344CB8AC3E}">
        <p14:creationId xmlns:p14="http://schemas.microsoft.com/office/powerpoint/2010/main" val="1040009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63"/>
          <p:cNvSpPr/>
          <p:nvPr/>
        </p:nvSpPr>
        <p:spPr>
          <a:xfrm>
            <a:off x="6785329"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63"/>
          <p:cNvSpPr/>
          <p:nvPr/>
        </p:nvSpPr>
        <p:spPr>
          <a:xfrm>
            <a:off x="4029720"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63"/>
          <p:cNvSpPr/>
          <p:nvPr/>
        </p:nvSpPr>
        <p:spPr>
          <a:xfrm>
            <a:off x="1432755" y="1819068"/>
            <a:ext cx="1017000" cy="1048200"/>
          </a:xfrm>
          <a:prstGeom prst="roundRect">
            <a:avLst>
              <a:gd name="adj" fmla="val 33387"/>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6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OpenEHR</a:t>
            </a:r>
            <a:endParaRPr dirty="0"/>
          </a:p>
        </p:txBody>
      </p:sp>
      <p:sp>
        <p:nvSpPr>
          <p:cNvPr id="578" name="Google Shape;578;p63"/>
          <p:cNvSpPr txBox="1">
            <a:spLocks noGrp="1"/>
          </p:cNvSpPr>
          <p:nvPr>
            <p:ph type="title" idx="2"/>
          </p:nvPr>
        </p:nvSpPr>
        <p:spPr>
          <a:xfrm>
            <a:off x="711109" y="3074603"/>
            <a:ext cx="2554349" cy="31954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Patient demographics </a:t>
            </a:r>
            <a:endParaRPr dirty="0"/>
          </a:p>
        </p:txBody>
      </p:sp>
      <p:sp>
        <p:nvSpPr>
          <p:cNvPr id="579" name="Google Shape;579;p63"/>
          <p:cNvSpPr txBox="1">
            <a:spLocks noGrp="1"/>
          </p:cNvSpPr>
          <p:nvPr>
            <p:ph type="subTitle" idx="1"/>
          </p:nvPr>
        </p:nvSpPr>
        <p:spPr>
          <a:xfrm>
            <a:off x="786592" y="3458663"/>
            <a:ext cx="2318700" cy="71292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The concepts include patient information, address, and organization.</a:t>
            </a:r>
            <a:endParaRPr dirty="0"/>
          </a:p>
        </p:txBody>
      </p:sp>
      <p:sp>
        <p:nvSpPr>
          <p:cNvPr id="580" name="Google Shape;580;p63"/>
          <p:cNvSpPr txBox="1">
            <a:spLocks noGrp="1"/>
          </p:cNvSpPr>
          <p:nvPr>
            <p:ph type="title" idx="3"/>
          </p:nvPr>
        </p:nvSpPr>
        <p:spPr>
          <a:xfrm>
            <a:off x="3518499" y="3052601"/>
            <a:ext cx="2088600"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Clincal Pattern</a:t>
            </a:r>
            <a:endParaRPr dirty="0"/>
          </a:p>
        </p:txBody>
      </p:sp>
      <p:sp>
        <p:nvSpPr>
          <p:cNvPr id="581" name="Google Shape;581;p63"/>
          <p:cNvSpPr txBox="1">
            <a:spLocks noGrp="1"/>
          </p:cNvSpPr>
          <p:nvPr>
            <p:ph type="subTitle" idx="4"/>
          </p:nvPr>
        </p:nvSpPr>
        <p:spPr>
          <a:xfrm>
            <a:off x="3125155" y="3401241"/>
            <a:ext cx="2963288" cy="128503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Problem-solving logic that represents the cycle of clinical information flow is used to organize the concepts.</a:t>
            </a:r>
          </a:p>
          <a:p>
            <a:pPr marL="0" indent="0"/>
            <a:r>
              <a:rPr lang="en-US" dirty="0"/>
              <a:t>Four types of “Instruction, Action, Evaluation, and Observation”.</a:t>
            </a:r>
            <a:endParaRPr dirty="0"/>
          </a:p>
        </p:txBody>
      </p:sp>
      <p:sp>
        <p:nvSpPr>
          <p:cNvPr id="582" name="Google Shape;582;p63"/>
          <p:cNvSpPr txBox="1">
            <a:spLocks noGrp="1"/>
          </p:cNvSpPr>
          <p:nvPr>
            <p:ph type="title" idx="5"/>
          </p:nvPr>
        </p:nvSpPr>
        <p:spPr>
          <a:xfrm>
            <a:off x="6226910" y="3052601"/>
            <a:ext cx="2300298" cy="35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Non-clinical Pattern</a:t>
            </a:r>
            <a:endParaRPr dirty="0"/>
          </a:p>
        </p:txBody>
      </p:sp>
      <p:sp>
        <p:nvSpPr>
          <p:cNvPr id="583" name="Google Shape;583;p63"/>
          <p:cNvSpPr txBox="1">
            <a:spLocks noGrp="1"/>
          </p:cNvSpPr>
          <p:nvPr>
            <p:ph type="subTitle" idx="6"/>
          </p:nvPr>
        </p:nvSpPr>
        <p:spPr>
          <a:xfrm>
            <a:off x="6208508" y="3458663"/>
            <a:ext cx="2318700" cy="79944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Following concepts can be organized: admission, discharge, and transfer</a:t>
            </a:r>
          </a:p>
        </p:txBody>
      </p:sp>
      <p:grpSp>
        <p:nvGrpSpPr>
          <p:cNvPr id="584" name="Google Shape;584;p63"/>
          <p:cNvGrpSpPr/>
          <p:nvPr/>
        </p:nvGrpSpPr>
        <p:grpSpPr>
          <a:xfrm>
            <a:off x="7116767" y="2175995"/>
            <a:ext cx="354136" cy="334348"/>
            <a:chOff x="-25844850" y="2357750"/>
            <a:chExt cx="296175" cy="279625"/>
          </a:xfrm>
        </p:grpSpPr>
        <p:sp>
          <p:nvSpPr>
            <p:cNvPr id="585" name="Google Shape;585;p63"/>
            <p:cNvSpPr/>
            <p:nvPr/>
          </p:nvSpPr>
          <p:spPr>
            <a:xfrm>
              <a:off x="-25792075" y="2428625"/>
              <a:ext cx="191425" cy="208750"/>
            </a:xfrm>
            <a:custGeom>
              <a:avLst/>
              <a:gdLst/>
              <a:ahLst/>
              <a:cxnLst/>
              <a:rect l="l" t="t" r="r" b="b"/>
              <a:pathLst>
                <a:path w="7657" h="8350" extrusionOk="0">
                  <a:moveTo>
                    <a:pt x="3781" y="2773"/>
                  </a:moveTo>
                  <a:cubicBezTo>
                    <a:pt x="3970" y="2773"/>
                    <a:pt x="4128" y="2931"/>
                    <a:pt x="4128" y="3120"/>
                  </a:cubicBezTo>
                  <a:cubicBezTo>
                    <a:pt x="4128" y="3309"/>
                    <a:pt x="3970" y="3466"/>
                    <a:pt x="3781" y="3466"/>
                  </a:cubicBezTo>
                  <a:cubicBezTo>
                    <a:pt x="3592" y="3466"/>
                    <a:pt x="3435" y="3309"/>
                    <a:pt x="3435" y="3120"/>
                  </a:cubicBezTo>
                  <a:cubicBezTo>
                    <a:pt x="3435" y="2931"/>
                    <a:pt x="3592" y="2773"/>
                    <a:pt x="3781" y="2773"/>
                  </a:cubicBezTo>
                  <a:close/>
                  <a:moveTo>
                    <a:pt x="3813" y="694"/>
                  </a:moveTo>
                  <a:cubicBezTo>
                    <a:pt x="5167" y="694"/>
                    <a:pt x="6270" y="1796"/>
                    <a:pt x="6270" y="3120"/>
                  </a:cubicBezTo>
                  <a:lnTo>
                    <a:pt x="6270" y="6239"/>
                  </a:lnTo>
                  <a:lnTo>
                    <a:pt x="4191" y="6239"/>
                  </a:lnTo>
                  <a:lnTo>
                    <a:pt x="4191" y="4096"/>
                  </a:lnTo>
                  <a:cubicBezTo>
                    <a:pt x="4569" y="3939"/>
                    <a:pt x="4884" y="3592"/>
                    <a:pt x="4884" y="3120"/>
                  </a:cubicBezTo>
                  <a:cubicBezTo>
                    <a:pt x="4884" y="2521"/>
                    <a:pt x="4411" y="2111"/>
                    <a:pt x="3876" y="2111"/>
                  </a:cubicBezTo>
                  <a:cubicBezTo>
                    <a:pt x="3277" y="2111"/>
                    <a:pt x="2836" y="2584"/>
                    <a:pt x="2836" y="3120"/>
                  </a:cubicBezTo>
                  <a:cubicBezTo>
                    <a:pt x="2836" y="3561"/>
                    <a:pt x="3120" y="3939"/>
                    <a:pt x="3561" y="4096"/>
                  </a:cubicBezTo>
                  <a:lnTo>
                    <a:pt x="3561" y="6239"/>
                  </a:lnTo>
                  <a:lnTo>
                    <a:pt x="1450" y="6239"/>
                  </a:lnTo>
                  <a:lnTo>
                    <a:pt x="1450" y="3120"/>
                  </a:lnTo>
                  <a:lnTo>
                    <a:pt x="1387" y="3120"/>
                  </a:lnTo>
                  <a:cubicBezTo>
                    <a:pt x="1387" y="1796"/>
                    <a:pt x="2489" y="694"/>
                    <a:pt x="3813" y="694"/>
                  </a:cubicBezTo>
                  <a:close/>
                  <a:moveTo>
                    <a:pt x="6585" y="6932"/>
                  </a:moveTo>
                  <a:cubicBezTo>
                    <a:pt x="6774" y="6932"/>
                    <a:pt x="6932" y="7089"/>
                    <a:pt x="6932" y="7310"/>
                  </a:cubicBezTo>
                  <a:lnTo>
                    <a:pt x="6932" y="7625"/>
                  </a:lnTo>
                  <a:lnTo>
                    <a:pt x="662" y="7625"/>
                  </a:lnTo>
                  <a:lnTo>
                    <a:pt x="662" y="7310"/>
                  </a:lnTo>
                  <a:cubicBezTo>
                    <a:pt x="662" y="7089"/>
                    <a:pt x="820" y="6932"/>
                    <a:pt x="1040" y="6932"/>
                  </a:cubicBezTo>
                  <a:close/>
                  <a:moveTo>
                    <a:pt x="3813" y="1"/>
                  </a:moveTo>
                  <a:cubicBezTo>
                    <a:pt x="2080" y="1"/>
                    <a:pt x="725" y="1418"/>
                    <a:pt x="725" y="3120"/>
                  </a:cubicBezTo>
                  <a:lnTo>
                    <a:pt x="725" y="6302"/>
                  </a:lnTo>
                  <a:cubicBezTo>
                    <a:pt x="316" y="6459"/>
                    <a:pt x="1" y="6837"/>
                    <a:pt x="1" y="7310"/>
                  </a:cubicBezTo>
                  <a:lnTo>
                    <a:pt x="1" y="8003"/>
                  </a:lnTo>
                  <a:cubicBezTo>
                    <a:pt x="1" y="8192"/>
                    <a:pt x="158" y="8349"/>
                    <a:pt x="347" y="8349"/>
                  </a:cubicBezTo>
                  <a:lnTo>
                    <a:pt x="7278" y="8349"/>
                  </a:lnTo>
                  <a:cubicBezTo>
                    <a:pt x="7499" y="8349"/>
                    <a:pt x="7656" y="8192"/>
                    <a:pt x="7656" y="8003"/>
                  </a:cubicBezTo>
                  <a:lnTo>
                    <a:pt x="7656" y="7310"/>
                  </a:lnTo>
                  <a:cubicBezTo>
                    <a:pt x="7593" y="6837"/>
                    <a:pt x="7341" y="6428"/>
                    <a:pt x="6932" y="6302"/>
                  </a:cubicBezTo>
                  <a:lnTo>
                    <a:pt x="6932" y="3120"/>
                  </a:lnTo>
                  <a:cubicBezTo>
                    <a:pt x="6932" y="1387"/>
                    <a:pt x="5514" y="1"/>
                    <a:pt x="38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6" name="Google Shape;586;p63"/>
            <p:cNvSpPr/>
            <p:nvPr/>
          </p:nvSpPr>
          <p:spPr>
            <a:xfrm>
              <a:off x="-25602250" y="2497950"/>
              <a:ext cx="53575" cy="17350"/>
            </a:xfrm>
            <a:custGeom>
              <a:avLst/>
              <a:gdLst/>
              <a:ahLst/>
              <a:cxnLst/>
              <a:rect l="l" t="t" r="r" b="b"/>
              <a:pathLst>
                <a:path w="2143" h="694" extrusionOk="0">
                  <a:moveTo>
                    <a:pt x="378" y="0"/>
                  </a:moveTo>
                  <a:cubicBezTo>
                    <a:pt x="158" y="0"/>
                    <a:pt x="0" y="158"/>
                    <a:pt x="0" y="347"/>
                  </a:cubicBezTo>
                  <a:cubicBezTo>
                    <a:pt x="0" y="536"/>
                    <a:pt x="158" y="693"/>
                    <a:pt x="378" y="693"/>
                  </a:cubicBezTo>
                  <a:lnTo>
                    <a:pt x="1796" y="693"/>
                  </a:lnTo>
                  <a:cubicBezTo>
                    <a:pt x="1985" y="693"/>
                    <a:pt x="2143" y="536"/>
                    <a:pt x="2143" y="347"/>
                  </a:cubicBezTo>
                  <a:cubicBezTo>
                    <a:pt x="2143" y="158"/>
                    <a:pt x="1985" y="0"/>
                    <a:pt x="17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7" name="Google Shape;587;p63"/>
            <p:cNvSpPr/>
            <p:nvPr/>
          </p:nvSpPr>
          <p:spPr>
            <a:xfrm>
              <a:off x="-25844850" y="2497950"/>
              <a:ext cx="52800" cy="17350"/>
            </a:xfrm>
            <a:custGeom>
              <a:avLst/>
              <a:gdLst/>
              <a:ahLst/>
              <a:cxnLst/>
              <a:rect l="l" t="t" r="r" b="b"/>
              <a:pathLst>
                <a:path w="2112" h="694" extrusionOk="0">
                  <a:moveTo>
                    <a:pt x="347" y="0"/>
                  </a:moveTo>
                  <a:cubicBezTo>
                    <a:pt x="158" y="0"/>
                    <a:pt x="1" y="158"/>
                    <a:pt x="1" y="347"/>
                  </a:cubicBezTo>
                  <a:cubicBezTo>
                    <a:pt x="1" y="536"/>
                    <a:pt x="158" y="693"/>
                    <a:pt x="347" y="693"/>
                  </a:cubicBezTo>
                  <a:lnTo>
                    <a:pt x="1765" y="693"/>
                  </a:lnTo>
                  <a:cubicBezTo>
                    <a:pt x="1954" y="693"/>
                    <a:pt x="2112" y="536"/>
                    <a:pt x="2112" y="347"/>
                  </a:cubicBezTo>
                  <a:cubicBezTo>
                    <a:pt x="2080" y="158"/>
                    <a:pt x="1923" y="0"/>
                    <a:pt x="1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8" name="Google Shape;588;p63"/>
            <p:cNvSpPr/>
            <p:nvPr/>
          </p:nvSpPr>
          <p:spPr>
            <a:xfrm>
              <a:off x="-25706225" y="2357750"/>
              <a:ext cx="17350" cy="53575"/>
            </a:xfrm>
            <a:custGeom>
              <a:avLst/>
              <a:gdLst/>
              <a:ahLst/>
              <a:cxnLst/>
              <a:rect l="l" t="t" r="r" b="b"/>
              <a:pathLst>
                <a:path w="694" h="2143" extrusionOk="0">
                  <a:moveTo>
                    <a:pt x="347" y="0"/>
                  </a:moveTo>
                  <a:cubicBezTo>
                    <a:pt x="158" y="0"/>
                    <a:pt x="1" y="158"/>
                    <a:pt x="1" y="347"/>
                  </a:cubicBezTo>
                  <a:lnTo>
                    <a:pt x="1" y="1764"/>
                  </a:lnTo>
                  <a:cubicBezTo>
                    <a:pt x="1" y="1985"/>
                    <a:pt x="158" y="2143"/>
                    <a:pt x="347" y="2143"/>
                  </a:cubicBezTo>
                  <a:cubicBezTo>
                    <a:pt x="536" y="2143"/>
                    <a:pt x="694" y="1985"/>
                    <a:pt x="694" y="1764"/>
                  </a:cubicBezTo>
                  <a:lnTo>
                    <a:pt x="694" y="347"/>
                  </a:lnTo>
                  <a:cubicBezTo>
                    <a:pt x="694" y="158"/>
                    <a:pt x="536" y="0"/>
                    <a:pt x="3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89" name="Google Shape;589;p63"/>
            <p:cNvSpPr/>
            <p:nvPr/>
          </p:nvSpPr>
          <p:spPr>
            <a:xfrm>
              <a:off x="-25804675" y="2400275"/>
              <a:ext cx="42550" cy="41775"/>
            </a:xfrm>
            <a:custGeom>
              <a:avLst/>
              <a:gdLst/>
              <a:ahLst/>
              <a:cxnLst/>
              <a:rect l="l" t="t" r="r" b="b"/>
              <a:pathLst>
                <a:path w="1702" h="1671" extrusionOk="0">
                  <a:moveTo>
                    <a:pt x="351" y="0"/>
                  </a:moveTo>
                  <a:cubicBezTo>
                    <a:pt x="260" y="0"/>
                    <a:pt x="174" y="32"/>
                    <a:pt x="127" y="95"/>
                  </a:cubicBezTo>
                  <a:cubicBezTo>
                    <a:pt x="0" y="189"/>
                    <a:pt x="0" y="442"/>
                    <a:pt x="127" y="568"/>
                  </a:cubicBezTo>
                  <a:lnTo>
                    <a:pt x="1103" y="1544"/>
                  </a:lnTo>
                  <a:cubicBezTo>
                    <a:pt x="1166" y="1607"/>
                    <a:pt x="1261" y="1670"/>
                    <a:pt x="1324" y="1670"/>
                  </a:cubicBezTo>
                  <a:cubicBezTo>
                    <a:pt x="1418" y="1670"/>
                    <a:pt x="1544" y="1607"/>
                    <a:pt x="1576" y="1544"/>
                  </a:cubicBezTo>
                  <a:cubicBezTo>
                    <a:pt x="1702" y="1418"/>
                    <a:pt x="1702" y="1198"/>
                    <a:pt x="1576" y="1072"/>
                  </a:cubicBezTo>
                  <a:lnTo>
                    <a:pt x="599" y="95"/>
                  </a:lnTo>
                  <a:cubicBezTo>
                    <a:pt x="536" y="32"/>
                    <a:pt x="442"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sp>
          <p:nvSpPr>
            <p:cNvPr id="590" name="Google Shape;590;p63"/>
            <p:cNvSpPr/>
            <p:nvPr/>
          </p:nvSpPr>
          <p:spPr>
            <a:xfrm>
              <a:off x="-25632175" y="2400275"/>
              <a:ext cx="41750" cy="41775"/>
            </a:xfrm>
            <a:custGeom>
              <a:avLst/>
              <a:gdLst/>
              <a:ahLst/>
              <a:cxnLst/>
              <a:rect l="l" t="t" r="r" b="b"/>
              <a:pathLst>
                <a:path w="1670" h="1671" extrusionOk="0">
                  <a:moveTo>
                    <a:pt x="1327" y="0"/>
                  </a:moveTo>
                  <a:cubicBezTo>
                    <a:pt x="1237" y="0"/>
                    <a:pt x="1150" y="32"/>
                    <a:pt x="1103" y="95"/>
                  </a:cubicBezTo>
                  <a:lnTo>
                    <a:pt x="95" y="1072"/>
                  </a:lnTo>
                  <a:cubicBezTo>
                    <a:pt x="0" y="1198"/>
                    <a:pt x="0" y="1418"/>
                    <a:pt x="95" y="1544"/>
                  </a:cubicBezTo>
                  <a:cubicBezTo>
                    <a:pt x="158" y="1607"/>
                    <a:pt x="252" y="1670"/>
                    <a:pt x="347" y="1670"/>
                  </a:cubicBezTo>
                  <a:cubicBezTo>
                    <a:pt x="410" y="1670"/>
                    <a:pt x="536" y="1607"/>
                    <a:pt x="567" y="1544"/>
                  </a:cubicBezTo>
                  <a:lnTo>
                    <a:pt x="1575" y="568"/>
                  </a:lnTo>
                  <a:cubicBezTo>
                    <a:pt x="1670" y="442"/>
                    <a:pt x="1670" y="189"/>
                    <a:pt x="1575" y="95"/>
                  </a:cubicBezTo>
                  <a:cubicBezTo>
                    <a:pt x="1512" y="32"/>
                    <a:pt x="1418"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91919"/>
                </a:solidFill>
              </a:endParaRPr>
            </a:p>
          </p:txBody>
        </p:sp>
      </p:grpSp>
      <p:grpSp>
        <p:nvGrpSpPr>
          <p:cNvPr id="591" name="Google Shape;591;p63"/>
          <p:cNvGrpSpPr/>
          <p:nvPr/>
        </p:nvGrpSpPr>
        <p:grpSpPr>
          <a:xfrm>
            <a:off x="4366930" y="2182764"/>
            <a:ext cx="342580" cy="339271"/>
            <a:chOff x="5049725" y="1435050"/>
            <a:chExt cx="486550" cy="481850"/>
          </a:xfrm>
        </p:grpSpPr>
        <p:sp>
          <p:nvSpPr>
            <p:cNvPr id="592" name="Google Shape;592;p6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3" name="Google Shape;593;p6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4" name="Google Shape;594;p6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95" name="Google Shape;595;p6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596" name="Google Shape;596;p63"/>
          <p:cNvGrpSpPr/>
          <p:nvPr/>
        </p:nvGrpSpPr>
        <p:grpSpPr>
          <a:xfrm>
            <a:off x="1790127" y="2161014"/>
            <a:ext cx="351024" cy="347301"/>
            <a:chOff x="946175" y="3619500"/>
            <a:chExt cx="296975" cy="293825"/>
          </a:xfrm>
        </p:grpSpPr>
        <p:sp>
          <p:nvSpPr>
            <p:cNvPr id="597" name="Google Shape;597;p63"/>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63"/>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63"/>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63"/>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63"/>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63"/>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03" name="Google Shape;603;p63"/>
          <p:cNvCxnSpPr/>
          <p:nvPr/>
        </p:nvCxnSpPr>
        <p:spPr>
          <a:xfrm>
            <a:off x="1725558" y="4739824"/>
            <a:ext cx="5677200" cy="0"/>
          </a:xfrm>
          <a:prstGeom prst="straightConnector1">
            <a:avLst/>
          </a:prstGeom>
          <a:noFill/>
          <a:ln w="19050" cap="flat" cmpd="sng">
            <a:solidFill>
              <a:srgbClr val="DADACE"/>
            </a:solidFill>
            <a:prstDash val="solid"/>
            <a:round/>
            <a:headEnd type="none" w="med" len="med"/>
            <a:tailEnd type="none" w="med" len="med"/>
          </a:ln>
        </p:spPr>
      </p:cxnSp>
      <p:grpSp>
        <p:nvGrpSpPr>
          <p:cNvPr id="604" name="Google Shape;604;p63"/>
          <p:cNvGrpSpPr/>
          <p:nvPr/>
        </p:nvGrpSpPr>
        <p:grpSpPr>
          <a:xfrm>
            <a:off x="1725400" y="1251601"/>
            <a:ext cx="5676724" cy="334356"/>
            <a:chOff x="1524913" y="922950"/>
            <a:chExt cx="6094175" cy="564600"/>
          </a:xfrm>
        </p:grpSpPr>
        <p:cxnSp>
          <p:nvCxnSpPr>
            <p:cNvPr id="605" name="Google Shape;605;p63"/>
            <p:cNvCxnSpPr/>
            <p:nvPr/>
          </p:nvCxnSpPr>
          <p:spPr>
            <a:xfrm rot="10800000" flipH="1">
              <a:off x="1524913" y="922950"/>
              <a:ext cx="2916000" cy="564600"/>
            </a:xfrm>
            <a:prstGeom prst="curvedConnector3">
              <a:avLst>
                <a:gd name="adj1" fmla="val 50000"/>
              </a:avLst>
            </a:prstGeom>
            <a:noFill/>
            <a:ln w="19050" cap="flat" cmpd="sng">
              <a:solidFill>
                <a:schemeClr val="accent1"/>
              </a:solidFill>
              <a:prstDash val="solid"/>
              <a:round/>
              <a:headEnd type="none" w="med" len="med"/>
              <a:tailEnd type="none" w="med" len="med"/>
            </a:ln>
          </p:spPr>
        </p:cxnSp>
        <p:cxnSp>
          <p:nvCxnSpPr>
            <p:cNvPr id="606" name="Google Shape;606;p63"/>
            <p:cNvCxnSpPr/>
            <p:nvPr/>
          </p:nvCxnSpPr>
          <p:spPr>
            <a:xfrm rot="10800000">
              <a:off x="4437888" y="923225"/>
              <a:ext cx="3181200" cy="563400"/>
            </a:xfrm>
            <a:prstGeom prst="curvedConnector3">
              <a:avLst>
                <a:gd name="adj1" fmla="val 50000"/>
              </a:avLst>
            </a:prstGeom>
            <a:noFill/>
            <a:ln w="19050" cap="flat" cmpd="sng">
              <a:solidFill>
                <a:schemeClr val="accent1"/>
              </a:solidFill>
              <a:prstDash val="solid"/>
              <a:round/>
              <a:headEnd type="none" w="med" len="med"/>
              <a:tailEnd type="none" w="med" len="med"/>
            </a:ln>
          </p:spPr>
        </p:cxnSp>
      </p:grpSp>
    </p:spTree>
    <p:extLst>
      <p:ext uri="{BB962C8B-B14F-4D97-AF65-F5344CB8AC3E}">
        <p14:creationId xmlns:p14="http://schemas.microsoft.com/office/powerpoint/2010/main" val="1892795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t="12219" r="23171" b="12068"/>
          <a:stretch/>
        </p:blipFill>
        <p:spPr>
          <a:xfrm flipH="1">
            <a:off x="4323101" y="430475"/>
            <a:ext cx="4782524" cy="4713024"/>
          </a:xfrm>
          <a:prstGeom prst="rect">
            <a:avLst/>
          </a:prstGeom>
          <a:noFill/>
          <a:ln>
            <a:noFill/>
          </a:ln>
        </p:spPr>
      </p:pic>
      <p:sp>
        <p:nvSpPr>
          <p:cNvPr id="284" name="Google Shape;284;p46"/>
          <p:cNvSpPr txBox="1">
            <a:spLocks noGrp="1"/>
          </p:cNvSpPr>
          <p:nvPr>
            <p:ph type="title"/>
          </p:nvPr>
        </p:nvSpPr>
        <p:spPr>
          <a:xfrm>
            <a:off x="475207" y="1829237"/>
            <a:ext cx="4096793" cy="1915500"/>
          </a:xfrm>
          <a:prstGeom prst="rect">
            <a:avLst/>
          </a:prstGeom>
        </p:spPr>
        <p:txBody>
          <a:bodyPr spcFirstLastPara="1" wrap="square" lIns="91425" tIns="91425" rIns="91425" bIns="91425" anchor="ctr" anchorCtr="0">
            <a:noAutofit/>
          </a:bodyPr>
          <a:lstStyle/>
          <a:p>
            <a:r>
              <a:rPr lang="en-US" sz="4400" dirty="0"/>
              <a:t>Searching corresponding archetypes</a:t>
            </a:r>
            <a:endParaRPr sz="4400" dirty="0"/>
          </a:p>
        </p:txBody>
      </p:sp>
      <p:sp>
        <p:nvSpPr>
          <p:cNvPr id="285" name="Google Shape;285;p46"/>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287" name="Google Shape;287;p46"/>
          <p:cNvSpPr/>
          <p:nvPr/>
        </p:nvSpPr>
        <p:spPr>
          <a:xfrm>
            <a:off x="8042675" y="2442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46"/>
          <p:cNvCxnSpPr/>
          <p:nvPr/>
        </p:nvCxnSpPr>
        <p:spPr>
          <a:xfrm>
            <a:off x="780087" y="3826217"/>
            <a:ext cx="2137500" cy="0"/>
          </a:xfrm>
          <a:prstGeom prst="straightConnector1">
            <a:avLst/>
          </a:prstGeom>
          <a:noFill/>
          <a:ln w="19050" cap="flat" cmpd="sng">
            <a:solidFill>
              <a:srgbClr val="DADACE"/>
            </a:solidFill>
            <a:prstDash val="solid"/>
            <a:round/>
            <a:headEnd type="none" w="med" len="med"/>
            <a:tailEnd type="none" w="med" len="med"/>
          </a:ln>
        </p:spPr>
      </p:cxnSp>
    </p:spTree>
    <p:extLst>
      <p:ext uri="{BB962C8B-B14F-4D97-AF65-F5344CB8AC3E}">
        <p14:creationId xmlns:p14="http://schemas.microsoft.com/office/powerpoint/2010/main" val="2604594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9" name="Google Shape;249;p43"/>
          <p:cNvSpPr txBox="1">
            <a:spLocks noGrp="1"/>
          </p:cNvSpPr>
          <p:nvPr>
            <p:ph type="body" idx="1"/>
          </p:nvPr>
        </p:nvSpPr>
        <p:spPr>
          <a:xfrm>
            <a:off x="733063" y="1004490"/>
            <a:ext cx="787536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solidFill>
                  <a:schemeClr val="dk1"/>
                </a:solidFill>
              </a:rPr>
              <a:t>Corresponding existing archetypes were retrieved based on three kinds of relationships</a:t>
            </a:r>
            <a:r>
              <a:rPr lang="en" sz="1600" dirty="0">
                <a:solidFill>
                  <a:schemeClr val="dk1"/>
                </a:solidFill>
              </a:rPr>
              <a:t>: </a:t>
            </a:r>
            <a:endParaRPr sz="1600" dirty="0">
              <a:solidFill>
                <a:schemeClr val="dk1"/>
              </a:solidFill>
            </a:endParaRPr>
          </a:p>
          <a:p>
            <a:pPr marL="285750" marR="5715" lvl="0" indent="-285750" rtl="0">
              <a:spcBef>
                <a:spcPts val="1200"/>
              </a:spcBef>
              <a:spcAft>
                <a:spcPts val="800"/>
              </a:spcAft>
              <a:buFont typeface="Arial" panose="020B0604020202020204" pitchFamily="34" charset="0"/>
              <a:buChar char="•"/>
            </a:pPr>
            <a:r>
              <a:rPr lang="en" sz="1600" dirty="0">
                <a:solidFill>
                  <a:schemeClr val="dk1"/>
                </a:solidFill>
              </a:rPr>
              <a:t>A </a:t>
            </a:r>
            <a:r>
              <a:rPr lang="en-US" sz="1600" dirty="0">
                <a:solidFill>
                  <a:schemeClr val="dk1"/>
                </a:solidFill>
              </a:rPr>
              <a:t>First, the concept and the existing archetype have the same semantics, e.g., the concept “diagnosis” and the existing archetype “openEHREHR-EVALUATION.problem_d-iagnosis.v1”. </a:t>
            </a:r>
          </a:p>
          <a:p>
            <a:pPr marL="285750" marR="5715" lvl="0" indent="-285750">
              <a:spcBef>
                <a:spcPts val="0"/>
              </a:spcBef>
              <a:spcAft>
                <a:spcPts val="800"/>
              </a:spcAft>
              <a:buFont typeface="Arial" panose="020B0604020202020204" pitchFamily="34" charset="0"/>
              <a:buChar char="•"/>
            </a:pPr>
            <a:r>
              <a:rPr lang="en-US" sz="1600" dirty="0">
                <a:solidFill>
                  <a:schemeClr val="dk1"/>
                </a:solidFill>
              </a:rPr>
              <a:t>Second, the semantics of the concept is one of the particular subsets of the existing archetype semantics, e.g., the concept “operation request” and the existing archetype “openEHR-EHRINSTRUCTI-ON.request.v0”. </a:t>
            </a:r>
          </a:p>
          <a:p>
            <a:pPr marL="285750" marR="5715" lvl="0" indent="-285750">
              <a:spcBef>
                <a:spcPts val="0"/>
              </a:spcBef>
              <a:spcAft>
                <a:spcPts val="800"/>
              </a:spcAft>
              <a:buFont typeface="Arial" panose="020B0604020202020204" pitchFamily="34" charset="0"/>
              <a:buChar char="•"/>
            </a:pPr>
            <a:r>
              <a:rPr lang="en-US" sz="1600" dirty="0">
                <a:solidFill>
                  <a:schemeClr val="dk1"/>
                </a:solidFill>
              </a:rPr>
              <a:t>Third, the semantics of the concept is more general than the existing archetype’s, e.g., the concept “physical sign” and the existing archetype “openEHR-EHR-OBSERVATION.body_temperature.v2”.</a:t>
            </a:r>
          </a:p>
          <a:p>
            <a:pPr marL="0" marR="5715" lvl="0" indent="0">
              <a:spcBef>
                <a:spcPts val="0"/>
              </a:spcBef>
              <a:spcAft>
                <a:spcPts val="800"/>
              </a:spcAft>
              <a:buNone/>
            </a:pPr>
            <a:r>
              <a:rPr lang="en-US" sz="1600" dirty="0">
                <a:effectLst/>
                <a:ea typeface="Times New Roman" panose="02020603050405020304" pitchFamily="18" charset="0"/>
              </a:rPr>
              <a:t>The CKM was adopted as the source to search corresponding existing archetypes for domain concepts. </a:t>
            </a:r>
            <a:endParaRPr sz="1400" dirty="0">
              <a:solidFill>
                <a:schemeClr val="dk1"/>
              </a:solidFill>
            </a:endParaRPr>
          </a:p>
        </p:txBody>
      </p:sp>
    </p:spTree>
    <p:extLst>
      <p:ext uri="{BB962C8B-B14F-4D97-AF65-F5344CB8AC3E}">
        <p14:creationId xmlns:p14="http://schemas.microsoft.com/office/powerpoint/2010/main" val="350550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t="12219" r="23171" b="12068"/>
          <a:stretch/>
        </p:blipFill>
        <p:spPr>
          <a:xfrm flipH="1">
            <a:off x="4323101" y="430475"/>
            <a:ext cx="4782524" cy="4713024"/>
          </a:xfrm>
          <a:prstGeom prst="rect">
            <a:avLst/>
          </a:prstGeom>
          <a:noFill/>
          <a:ln>
            <a:noFill/>
          </a:ln>
        </p:spPr>
      </p:pic>
      <p:sp>
        <p:nvSpPr>
          <p:cNvPr id="284" name="Google Shape;284;p46"/>
          <p:cNvSpPr txBox="1">
            <a:spLocks noGrp="1"/>
          </p:cNvSpPr>
          <p:nvPr>
            <p:ph type="title"/>
          </p:nvPr>
        </p:nvSpPr>
        <p:spPr>
          <a:xfrm>
            <a:off x="475207" y="1829237"/>
            <a:ext cx="4096793" cy="1915500"/>
          </a:xfrm>
          <a:prstGeom prst="rect">
            <a:avLst/>
          </a:prstGeom>
        </p:spPr>
        <p:txBody>
          <a:bodyPr spcFirstLastPara="1" wrap="square" lIns="91425" tIns="91425" rIns="91425" bIns="91425" anchor="ctr" anchorCtr="0">
            <a:noAutofit/>
          </a:bodyPr>
          <a:lstStyle/>
          <a:p>
            <a:r>
              <a:rPr lang="en-US" sz="4400" dirty="0"/>
              <a:t>Editing Archetypes</a:t>
            </a:r>
            <a:endParaRPr sz="4400" dirty="0"/>
          </a:p>
        </p:txBody>
      </p:sp>
      <p:sp>
        <p:nvSpPr>
          <p:cNvPr id="285" name="Google Shape;285;p46"/>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287" name="Google Shape;287;p46"/>
          <p:cNvSpPr/>
          <p:nvPr/>
        </p:nvSpPr>
        <p:spPr>
          <a:xfrm>
            <a:off x="8042675" y="2442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46"/>
          <p:cNvCxnSpPr/>
          <p:nvPr/>
        </p:nvCxnSpPr>
        <p:spPr>
          <a:xfrm>
            <a:off x="780087" y="3826217"/>
            <a:ext cx="2137500" cy="0"/>
          </a:xfrm>
          <a:prstGeom prst="straightConnector1">
            <a:avLst/>
          </a:prstGeom>
          <a:noFill/>
          <a:ln w="19050" cap="flat" cmpd="sng">
            <a:solidFill>
              <a:srgbClr val="DADACE"/>
            </a:solidFill>
            <a:prstDash val="solid"/>
            <a:round/>
            <a:headEnd type="none" w="med" len="med"/>
            <a:tailEnd type="none" w="med" len="med"/>
          </a:ln>
        </p:spPr>
      </p:cxnSp>
    </p:spTree>
    <p:extLst>
      <p:ext uri="{BB962C8B-B14F-4D97-AF65-F5344CB8AC3E}">
        <p14:creationId xmlns:p14="http://schemas.microsoft.com/office/powerpoint/2010/main" val="4125038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9" name="Google Shape;249;p43"/>
          <p:cNvSpPr txBox="1">
            <a:spLocks noGrp="1"/>
          </p:cNvSpPr>
          <p:nvPr>
            <p:ph type="body" idx="1"/>
          </p:nvPr>
        </p:nvSpPr>
        <p:spPr>
          <a:xfrm>
            <a:off x="716734" y="1053475"/>
            <a:ext cx="787536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chemeClr val="dk1"/>
                </a:solidFill>
              </a:rPr>
              <a:t>Domain experts would execute five kinds of operations for archetype reuse when the clinical concept has matched archetypes in CKM:</a:t>
            </a:r>
            <a:endParaRPr sz="1400" dirty="0">
              <a:solidFill>
                <a:schemeClr val="dk1"/>
              </a:solidFill>
            </a:endParaRPr>
          </a:p>
          <a:p>
            <a:pPr marL="285750" marR="5715" lvl="0" indent="-285750" rtl="0">
              <a:spcBef>
                <a:spcPts val="1200"/>
              </a:spcBef>
              <a:spcAft>
                <a:spcPts val="800"/>
              </a:spcAft>
              <a:buFont typeface="Arial" panose="020B0604020202020204" pitchFamily="34" charset="0"/>
              <a:buChar char="•"/>
            </a:pPr>
            <a:r>
              <a:rPr lang="en" sz="1400" dirty="0">
                <a:solidFill>
                  <a:schemeClr val="dk1"/>
                </a:solidFill>
              </a:rPr>
              <a:t>If </a:t>
            </a:r>
            <a:r>
              <a:rPr lang="en-US" sz="1400" dirty="0">
                <a:solidFill>
                  <a:schemeClr val="dk1"/>
                </a:solidFill>
              </a:rPr>
              <a:t>the existing archetype covered all the data elements and nothing needed to be changed, then the existing archetype was reused directly.</a:t>
            </a:r>
          </a:p>
          <a:p>
            <a:pPr marL="285750" marR="5715" lvl="0" indent="-285750">
              <a:spcBef>
                <a:spcPts val="0"/>
              </a:spcBef>
              <a:spcAft>
                <a:spcPts val="800"/>
              </a:spcAft>
              <a:buFont typeface="Arial" panose="020B0604020202020204" pitchFamily="34" charset="0"/>
              <a:buChar char="•"/>
            </a:pPr>
            <a:r>
              <a:rPr lang="en-US" sz="1400" dirty="0">
                <a:solidFill>
                  <a:schemeClr val="dk1"/>
                </a:solidFill>
              </a:rPr>
              <a:t>The existing archetype covered all data elements, but the meta-data required to be refined, then a revision operation was executed, including translation, extending value sets and description</a:t>
            </a:r>
          </a:p>
          <a:p>
            <a:pPr marL="285750" marR="5715" lvl="0" indent="-285750">
              <a:spcBef>
                <a:spcPts val="0"/>
              </a:spcBef>
              <a:spcAft>
                <a:spcPts val="800"/>
              </a:spcAft>
              <a:buFont typeface="Arial" panose="020B0604020202020204" pitchFamily="34" charset="0"/>
              <a:buChar char="•"/>
            </a:pPr>
            <a:r>
              <a:rPr lang="en-US" sz="1400" dirty="0">
                <a:solidFill>
                  <a:schemeClr val="dk1"/>
                </a:solidFill>
              </a:rPr>
              <a:t>If the existing archetype covered only a portion of the data elements, three potential modification choices were provided. The specialization operation was executed when the clinical concept could be expressed by specializing the existing archetypes to make the semantics more elaborate and narrower, which required changing the identification information of the archetype. The extension operation was executed when some compatible modifications to the existing archetype were needed for expressing the clinical concept. A new version was created when some incompatible modifications to the existing archetype were needed, which changed the version information.</a:t>
            </a:r>
          </a:p>
        </p:txBody>
      </p:sp>
    </p:spTree>
    <p:extLst>
      <p:ext uri="{BB962C8B-B14F-4D97-AF65-F5344CB8AC3E}">
        <p14:creationId xmlns:p14="http://schemas.microsoft.com/office/powerpoint/2010/main" val="3571993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2B14FD2-3633-4C91-B269-B8A01483CC1B}"/>
              </a:ext>
            </a:extLst>
          </p:cNvPr>
          <p:cNvGraphicFramePr>
            <a:graphicFrameLocks noGrp="1"/>
          </p:cNvGraphicFramePr>
          <p:nvPr>
            <p:extLst>
              <p:ext uri="{D42A27DB-BD31-4B8C-83A1-F6EECF244321}">
                <p14:modId xmlns:p14="http://schemas.microsoft.com/office/powerpoint/2010/main" val="1067275266"/>
              </p:ext>
            </p:extLst>
          </p:nvPr>
        </p:nvGraphicFramePr>
        <p:xfrm>
          <a:off x="804735" y="1225202"/>
          <a:ext cx="7534529" cy="2693096"/>
        </p:xfrm>
        <a:graphic>
          <a:graphicData uri="http://schemas.openxmlformats.org/drawingml/2006/table">
            <a:tbl>
              <a:tblPr firstRow="1" firstCol="1" bandRow="1">
                <a:tableStyleId>{3B4B98B0-60AC-42C2-AFA5-B58CD77FA1E5}</a:tableStyleId>
              </a:tblPr>
              <a:tblGrid>
                <a:gridCol w="2231073">
                  <a:extLst>
                    <a:ext uri="{9D8B030D-6E8A-4147-A177-3AD203B41FA5}">
                      <a16:colId xmlns:a16="http://schemas.microsoft.com/office/drawing/2014/main" val="838327457"/>
                    </a:ext>
                  </a:extLst>
                </a:gridCol>
                <a:gridCol w="4084320">
                  <a:extLst>
                    <a:ext uri="{9D8B030D-6E8A-4147-A177-3AD203B41FA5}">
                      <a16:colId xmlns:a16="http://schemas.microsoft.com/office/drawing/2014/main" val="2043935568"/>
                    </a:ext>
                  </a:extLst>
                </a:gridCol>
                <a:gridCol w="1219136">
                  <a:extLst>
                    <a:ext uri="{9D8B030D-6E8A-4147-A177-3AD203B41FA5}">
                      <a16:colId xmlns:a16="http://schemas.microsoft.com/office/drawing/2014/main" val="3426342605"/>
                    </a:ext>
                  </a:extLst>
                </a:gridCol>
              </a:tblGrid>
              <a:tr h="398289">
                <a:tc>
                  <a:txBody>
                    <a:bodyPr/>
                    <a:lstStyle/>
                    <a:p>
                      <a:pPr marL="0" marR="0" indent="0" algn="ctr">
                        <a:lnSpc>
                          <a:spcPct val="107000"/>
                        </a:lnSpc>
                        <a:spcBef>
                          <a:spcPts val="0"/>
                        </a:spcBef>
                        <a:spcAft>
                          <a:spcPts val="0"/>
                        </a:spcAft>
                      </a:pPr>
                      <a:r>
                        <a:rPr lang="en-US" sz="800" dirty="0">
                          <a:effectLst/>
                        </a:rPr>
                        <a:t>Result of searching</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Category of covered</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Operation</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257145593"/>
                  </a:ext>
                </a:extLst>
              </a:tr>
              <a:tr h="360140">
                <a:tc>
                  <a:txBody>
                    <a:bodyPr/>
                    <a:lstStyle/>
                    <a:p>
                      <a:pPr marL="0" marR="0" indent="0" algn="ctr">
                        <a:lnSpc>
                          <a:spcPct val="107000"/>
                        </a:lnSpc>
                        <a:spcBef>
                          <a:spcPts val="0"/>
                        </a:spcBef>
                        <a:spcAft>
                          <a:spcPts val="800"/>
                        </a:spcAft>
                      </a:pPr>
                      <a:r>
                        <a:rPr lang="en-US" sz="1000" dirty="0">
                          <a:effectLst/>
                        </a:rPr>
                        <a:t> </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l">
                        <a:lnSpc>
                          <a:spcPct val="107000"/>
                        </a:lnSpc>
                        <a:spcBef>
                          <a:spcPts val="0"/>
                        </a:spcBef>
                        <a:spcAft>
                          <a:spcPts val="0"/>
                        </a:spcAft>
                      </a:pPr>
                      <a:r>
                        <a:rPr lang="en-US" sz="800" dirty="0">
                          <a:effectLst/>
                        </a:rPr>
                        <a:t>Covered by archetype completely.</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Used directly</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448448865"/>
                  </a:ext>
                </a:extLst>
              </a:tr>
              <a:tr h="414931">
                <a:tc>
                  <a:txBody>
                    <a:bodyPr/>
                    <a:lstStyle/>
                    <a:p>
                      <a:pPr marL="0" marR="0" indent="0" algn="ctr">
                        <a:lnSpc>
                          <a:spcPct val="107000"/>
                        </a:lnSpc>
                        <a:spcBef>
                          <a:spcPts val="0"/>
                        </a:spcBef>
                        <a:spcAft>
                          <a:spcPts val="800"/>
                        </a:spcAft>
                      </a:pPr>
                      <a:r>
                        <a:rPr lang="en-US" sz="1000" dirty="0">
                          <a:effectLst/>
                        </a:rPr>
                        <a:t> </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l">
                        <a:lnSpc>
                          <a:spcPct val="107000"/>
                        </a:lnSpc>
                        <a:spcBef>
                          <a:spcPts val="0"/>
                        </a:spcBef>
                        <a:spcAft>
                          <a:spcPts val="0"/>
                        </a:spcAft>
                      </a:pPr>
                      <a:r>
                        <a:rPr lang="en-US" sz="800" dirty="0">
                          <a:effectLst/>
                        </a:rPr>
                        <a:t>Need to modify description, translation, and extend the value sets.</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Revision</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1840248179"/>
                  </a:ext>
                </a:extLst>
              </a:tr>
              <a:tr h="371133">
                <a:tc>
                  <a:txBody>
                    <a:bodyPr/>
                    <a:lstStyle/>
                    <a:p>
                      <a:pPr marL="0" marR="0" indent="0" algn="ctr">
                        <a:lnSpc>
                          <a:spcPct val="107000"/>
                        </a:lnSpc>
                        <a:spcBef>
                          <a:spcPts val="0"/>
                        </a:spcBef>
                        <a:spcAft>
                          <a:spcPts val="0"/>
                        </a:spcAft>
                      </a:pPr>
                      <a:r>
                        <a:rPr lang="en-US" sz="800" dirty="0">
                          <a:effectLst/>
                        </a:rPr>
                        <a:t>Existing corresponding archetype</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l">
                        <a:lnSpc>
                          <a:spcPct val="107000"/>
                        </a:lnSpc>
                        <a:spcBef>
                          <a:spcPts val="0"/>
                        </a:spcBef>
                        <a:spcAft>
                          <a:spcPts val="0"/>
                        </a:spcAft>
                      </a:pPr>
                      <a:r>
                        <a:rPr lang="en-US" sz="800" dirty="0">
                          <a:effectLst/>
                        </a:rPr>
                        <a:t>Need to specialize the archetype and add more constraint.</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Specialization</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2569489651"/>
                  </a:ext>
                </a:extLst>
              </a:tr>
              <a:tr h="414931">
                <a:tc>
                  <a:txBody>
                    <a:bodyPr/>
                    <a:lstStyle/>
                    <a:p>
                      <a:pPr marL="0" marR="0" indent="0" algn="ctr">
                        <a:lnSpc>
                          <a:spcPct val="107000"/>
                        </a:lnSpc>
                        <a:spcBef>
                          <a:spcPts val="0"/>
                        </a:spcBef>
                        <a:spcAft>
                          <a:spcPts val="800"/>
                        </a:spcAft>
                      </a:pPr>
                      <a:r>
                        <a:rPr lang="en-US" sz="1000">
                          <a:effectLst/>
                        </a:rPr>
                        <a:t> </a:t>
                      </a:r>
                      <a:endParaRPr lang="en-US" sz="1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l">
                        <a:lnSpc>
                          <a:spcPct val="107000"/>
                        </a:lnSpc>
                        <a:spcBef>
                          <a:spcPts val="0"/>
                        </a:spcBef>
                        <a:spcAft>
                          <a:spcPts val="0"/>
                        </a:spcAft>
                      </a:pPr>
                      <a:r>
                        <a:rPr lang="en-US" sz="800" dirty="0">
                          <a:effectLst/>
                        </a:rPr>
                        <a:t>Need to add new items to the definition section and maintain compatibility.</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Extension</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1401071674"/>
                  </a:ext>
                </a:extLst>
              </a:tr>
              <a:tr h="344931">
                <a:tc>
                  <a:txBody>
                    <a:bodyPr/>
                    <a:lstStyle/>
                    <a:p>
                      <a:pPr marL="0" marR="0" indent="0" algn="ctr">
                        <a:lnSpc>
                          <a:spcPct val="107000"/>
                        </a:lnSpc>
                        <a:spcBef>
                          <a:spcPts val="0"/>
                        </a:spcBef>
                        <a:spcAft>
                          <a:spcPts val="800"/>
                        </a:spcAft>
                      </a:pPr>
                      <a:r>
                        <a:rPr lang="en-US" sz="1000">
                          <a:effectLst/>
                        </a:rPr>
                        <a:t> </a:t>
                      </a:r>
                      <a:endParaRPr lang="en-US" sz="10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l">
                        <a:lnSpc>
                          <a:spcPct val="107000"/>
                        </a:lnSpc>
                        <a:spcBef>
                          <a:spcPts val="0"/>
                        </a:spcBef>
                        <a:spcAft>
                          <a:spcPts val="0"/>
                        </a:spcAft>
                      </a:pPr>
                      <a:r>
                        <a:rPr lang="en-US" sz="800" dirty="0">
                          <a:effectLst/>
                        </a:rPr>
                        <a:t>Modification that makes the archetype incompatible with the original archetype.</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635" marR="0" indent="0" algn="ctr">
                        <a:lnSpc>
                          <a:spcPct val="107000"/>
                        </a:lnSpc>
                        <a:spcBef>
                          <a:spcPts val="0"/>
                        </a:spcBef>
                        <a:spcAft>
                          <a:spcPts val="0"/>
                        </a:spcAft>
                      </a:pPr>
                      <a:r>
                        <a:rPr lang="en-US" sz="800" dirty="0">
                          <a:effectLst/>
                        </a:rPr>
                        <a:t>New version</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670626527"/>
                  </a:ext>
                </a:extLst>
              </a:tr>
              <a:tr h="388741">
                <a:tc>
                  <a:txBody>
                    <a:bodyPr/>
                    <a:lstStyle/>
                    <a:p>
                      <a:pPr marL="0" marR="0" indent="0" algn="ctr">
                        <a:lnSpc>
                          <a:spcPct val="107000"/>
                        </a:lnSpc>
                        <a:spcBef>
                          <a:spcPts val="0"/>
                        </a:spcBef>
                        <a:spcAft>
                          <a:spcPts val="0"/>
                        </a:spcAft>
                      </a:pPr>
                      <a:r>
                        <a:rPr lang="en-US" sz="800" dirty="0">
                          <a:effectLst/>
                        </a:rPr>
                        <a:t>No corresponding archetype</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l">
                        <a:lnSpc>
                          <a:spcPct val="107000"/>
                        </a:lnSpc>
                        <a:spcBef>
                          <a:spcPts val="0"/>
                        </a:spcBef>
                        <a:spcAft>
                          <a:spcPts val="0"/>
                        </a:spcAft>
                      </a:pPr>
                      <a:r>
                        <a:rPr lang="en-US" sz="800" dirty="0">
                          <a:effectLst/>
                        </a:rPr>
                        <a:t>No covered</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tc>
                  <a:txBody>
                    <a:bodyPr/>
                    <a:lstStyle/>
                    <a:p>
                      <a:pPr marL="0" marR="0" indent="0" algn="ctr">
                        <a:lnSpc>
                          <a:spcPct val="107000"/>
                        </a:lnSpc>
                        <a:spcBef>
                          <a:spcPts val="0"/>
                        </a:spcBef>
                        <a:spcAft>
                          <a:spcPts val="0"/>
                        </a:spcAft>
                      </a:pPr>
                      <a:r>
                        <a:rPr lang="en-US" sz="800" dirty="0">
                          <a:effectLst/>
                        </a:rPr>
                        <a:t>New</a:t>
                      </a:r>
                      <a:endParaRPr lang="en-US" sz="10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41275" marB="0"/>
                </a:tc>
                <a:extLst>
                  <a:ext uri="{0D108BD9-81ED-4DB2-BD59-A6C34878D82A}">
                    <a16:rowId xmlns:a16="http://schemas.microsoft.com/office/drawing/2014/main" val="3783700675"/>
                  </a:ext>
                </a:extLst>
              </a:tr>
            </a:tbl>
          </a:graphicData>
        </a:graphic>
      </p:graphicFrame>
    </p:spTree>
    <p:extLst>
      <p:ext uri="{BB962C8B-B14F-4D97-AF65-F5344CB8AC3E}">
        <p14:creationId xmlns:p14="http://schemas.microsoft.com/office/powerpoint/2010/main" val="525847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6"/>
          <p:cNvPicPr preferRelativeResize="0"/>
          <p:nvPr/>
        </p:nvPicPr>
        <p:blipFill rotWithShape="1">
          <a:blip r:embed="rId3">
            <a:alphaModFix/>
          </a:blip>
          <a:srcRect t="12219" r="23171" b="12068"/>
          <a:stretch/>
        </p:blipFill>
        <p:spPr>
          <a:xfrm flipH="1">
            <a:off x="4323101" y="430475"/>
            <a:ext cx="4782524" cy="4713024"/>
          </a:xfrm>
          <a:prstGeom prst="rect">
            <a:avLst/>
          </a:prstGeom>
          <a:noFill/>
          <a:ln>
            <a:noFill/>
          </a:ln>
        </p:spPr>
      </p:pic>
      <p:sp>
        <p:nvSpPr>
          <p:cNvPr id="284" name="Google Shape;284;p46"/>
          <p:cNvSpPr txBox="1">
            <a:spLocks noGrp="1"/>
          </p:cNvSpPr>
          <p:nvPr>
            <p:ph type="title"/>
          </p:nvPr>
        </p:nvSpPr>
        <p:spPr>
          <a:xfrm>
            <a:off x="475207" y="1829237"/>
            <a:ext cx="4096793" cy="1915500"/>
          </a:xfrm>
          <a:prstGeom prst="rect">
            <a:avLst/>
          </a:prstGeom>
        </p:spPr>
        <p:txBody>
          <a:bodyPr spcFirstLastPara="1" wrap="square" lIns="91425" tIns="91425" rIns="91425" bIns="91425" anchor="ctr" anchorCtr="0">
            <a:noAutofit/>
          </a:bodyPr>
          <a:lstStyle/>
          <a:p>
            <a:r>
              <a:rPr lang="en-US" sz="4400" dirty="0"/>
              <a:t>Reviewing Archetypes</a:t>
            </a:r>
            <a:endParaRPr sz="4400" dirty="0"/>
          </a:p>
        </p:txBody>
      </p:sp>
      <p:sp>
        <p:nvSpPr>
          <p:cNvPr id="285" name="Google Shape;285;p46"/>
          <p:cNvSpPr txBox="1">
            <a:spLocks noGrp="1"/>
          </p:cNvSpPr>
          <p:nvPr>
            <p:ph type="title" idx="2"/>
          </p:nvPr>
        </p:nvSpPr>
        <p:spPr>
          <a:xfrm>
            <a:off x="720000" y="674750"/>
            <a:ext cx="1056900" cy="106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287" name="Google Shape;287;p46"/>
          <p:cNvSpPr/>
          <p:nvPr/>
        </p:nvSpPr>
        <p:spPr>
          <a:xfrm>
            <a:off x="8042675" y="244299"/>
            <a:ext cx="1773593" cy="2116901"/>
          </a:xfrm>
          <a:custGeom>
            <a:avLst/>
            <a:gdLst/>
            <a:ahLst/>
            <a:cxnLst/>
            <a:rect l="l" t="t" r="r" b="b"/>
            <a:pathLst>
              <a:path w="76022" h="90747" fill="none" extrusionOk="0">
                <a:moveTo>
                  <a:pt x="53307" y="90746"/>
                </a:moveTo>
                <a:lnTo>
                  <a:pt x="22715" y="90746"/>
                </a:lnTo>
                <a:lnTo>
                  <a:pt x="22715" y="90746"/>
                </a:lnTo>
                <a:lnTo>
                  <a:pt x="21574" y="90718"/>
                </a:lnTo>
                <a:lnTo>
                  <a:pt x="20405" y="90635"/>
                </a:lnTo>
                <a:lnTo>
                  <a:pt x="19291" y="90495"/>
                </a:lnTo>
                <a:lnTo>
                  <a:pt x="18150" y="90273"/>
                </a:lnTo>
                <a:lnTo>
                  <a:pt x="17064" y="90022"/>
                </a:lnTo>
                <a:lnTo>
                  <a:pt x="15979" y="89716"/>
                </a:lnTo>
                <a:lnTo>
                  <a:pt x="14949" y="89354"/>
                </a:lnTo>
                <a:lnTo>
                  <a:pt x="13919" y="88965"/>
                </a:lnTo>
                <a:lnTo>
                  <a:pt x="12889" y="88491"/>
                </a:lnTo>
                <a:lnTo>
                  <a:pt x="11915" y="87990"/>
                </a:lnTo>
                <a:lnTo>
                  <a:pt x="10968" y="87434"/>
                </a:lnTo>
                <a:lnTo>
                  <a:pt x="10050" y="86849"/>
                </a:lnTo>
                <a:lnTo>
                  <a:pt x="9159" y="86209"/>
                </a:lnTo>
                <a:lnTo>
                  <a:pt x="8296" y="85541"/>
                </a:lnTo>
                <a:lnTo>
                  <a:pt x="7489" y="84817"/>
                </a:lnTo>
                <a:lnTo>
                  <a:pt x="6681" y="84065"/>
                </a:lnTo>
                <a:lnTo>
                  <a:pt x="5930" y="83286"/>
                </a:lnTo>
                <a:lnTo>
                  <a:pt x="5206" y="82451"/>
                </a:lnTo>
                <a:lnTo>
                  <a:pt x="4538" y="81588"/>
                </a:lnTo>
                <a:lnTo>
                  <a:pt x="3898" y="80697"/>
                </a:lnTo>
                <a:lnTo>
                  <a:pt x="3313" y="79779"/>
                </a:lnTo>
                <a:lnTo>
                  <a:pt x="2756" y="78832"/>
                </a:lnTo>
                <a:lnTo>
                  <a:pt x="2255" y="77858"/>
                </a:lnTo>
                <a:lnTo>
                  <a:pt x="1810" y="76856"/>
                </a:lnTo>
                <a:lnTo>
                  <a:pt x="1393" y="75826"/>
                </a:lnTo>
                <a:lnTo>
                  <a:pt x="1031" y="74768"/>
                </a:lnTo>
                <a:lnTo>
                  <a:pt x="724" y="73682"/>
                </a:lnTo>
                <a:lnTo>
                  <a:pt x="474" y="72597"/>
                </a:lnTo>
                <a:lnTo>
                  <a:pt x="279" y="71483"/>
                </a:lnTo>
                <a:lnTo>
                  <a:pt x="140" y="70342"/>
                </a:lnTo>
                <a:lnTo>
                  <a:pt x="56" y="69201"/>
                </a:lnTo>
                <a:lnTo>
                  <a:pt x="1" y="68032"/>
                </a:lnTo>
                <a:lnTo>
                  <a:pt x="1" y="22715"/>
                </a:lnTo>
                <a:lnTo>
                  <a:pt x="1" y="22715"/>
                </a:lnTo>
                <a:lnTo>
                  <a:pt x="56" y="21546"/>
                </a:lnTo>
                <a:lnTo>
                  <a:pt x="140" y="20404"/>
                </a:lnTo>
                <a:lnTo>
                  <a:pt x="279" y="19263"/>
                </a:lnTo>
                <a:lnTo>
                  <a:pt x="474" y="18150"/>
                </a:lnTo>
                <a:lnTo>
                  <a:pt x="724" y="17064"/>
                </a:lnTo>
                <a:lnTo>
                  <a:pt x="1031" y="15978"/>
                </a:lnTo>
                <a:lnTo>
                  <a:pt x="1393" y="14921"/>
                </a:lnTo>
                <a:lnTo>
                  <a:pt x="1810" y="13891"/>
                </a:lnTo>
                <a:lnTo>
                  <a:pt x="2255" y="12888"/>
                </a:lnTo>
                <a:lnTo>
                  <a:pt x="2756" y="11914"/>
                </a:lnTo>
                <a:lnTo>
                  <a:pt x="3313" y="10968"/>
                </a:lnTo>
                <a:lnTo>
                  <a:pt x="3898" y="10049"/>
                </a:lnTo>
                <a:lnTo>
                  <a:pt x="4538" y="9158"/>
                </a:lnTo>
                <a:lnTo>
                  <a:pt x="5206" y="8296"/>
                </a:lnTo>
                <a:lnTo>
                  <a:pt x="5930" y="7460"/>
                </a:lnTo>
                <a:lnTo>
                  <a:pt x="6681" y="6681"/>
                </a:lnTo>
                <a:lnTo>
                  <a:pt x="7489" y="5929"/>
                </a:lnTo>
                <a:lnTo>
                  <a:pt x="8296" y="5206"/>
                </a:lnTo>
                <a:lnTo>
                  <a:pt x="9159" y="4538"/>
                </a:lnTo>
                <a:lnTo>
                  <a:pt x="10050" y="3897"/>
                </a:lnTo>
                <a:lnTo>
                  <a:pt x="10968" y="3313"/>
                </a:lnTo>
                <a:lnTo>
                  <a:pt x="11915" y="2756"/>
                </a:lnTo>
                <a:lnTo>
                  <a:pt x="12889" y="2255"/>
                </a:lnTo>
                <a:lnTo>
                  <a:pt x="13919" y="1782"/>
                </a:lnTo>
                <a:lnTo>
                  <a:pt x="14949" y="1392"/>
                </a:lnTo>
                <a:lnTo>
                  <a:pt x="15979" y="1030"/>
                </a:lnTo>
                <a:lnTo>
                  <a:pt x="17064" y="724"/>
                </a:lnTo>
                <a:lnTo>
                  <a:pt x="18150" y="474"/>
                </a:lnTo>
                <a:lnTo>
                  <a:pt x="19291" y="251"/>
                </a:lnTo>
                <a:lnTo>
                  <a:pt x="20405" y="112"/>
                </a:lnTo>
                <a:lnTo>
                  <a:pt x="21574" y="28"/>
                </a:lnTo>
                <a:lnTo>
                  <a:pt x="22715" y="0"/>
                </a:lnTo>
                <a:lnTo>
                  <a:pt x="53307" y="0"/>
                </a:lnTo>
                <a:lnTo>
                  <a:pt x="53307" y="0"/>
                </a:lnTo>
                <a:lnTo>
                  <a:pt x="54476" y="28"/>
                </a:lnTo>
                <a:lnTo>
                  <a:pt x="55617" y="112"/>
                </a:lnTo>
                <a:lnTo>
                  <a:pt x="56758" y="251"/>
                </a:lnTo>
                <a:lnTo>
                  <a:pt x="57872" y="474"/>
                </a:lnTo>
                <a:lnTo>
                  <a:pt x="58958" y="724"/>
                </a:lnTo>
                <a:lnTo>
                  <a:pt x="60043" y="1030"/>
                </a:lnTo>
                <a:lnTo>
                  <a:pt x="61101" y="1392"/>
                </a:lnTo>
                <a:lnTo>
                  <a:pt x="62131" y="1782"/>
                </a:lnTo>
                <a:lnTo>
                  <a:pt x="63133" y="2255"/>
                </a:lnTo>
                <a:lnTo>
                  <a:pt x="64107" y="2756"/>
                </a:lnTo>
                <a:lnTo>
                  <a:pt x="65054" y="3313"/>
                </a:lnTo>
                <a:lnTo>
                  <a:pt x="65972" y="3897"/>
                </a:lnTo>
                <a:lnTo>
                  <a:pt x="66863" y="4538"/>
                </a:lnTo>
                <a:lnTo>
                  <a:pt x="67726" y="5206"/>
                </a:lnTo>
                <a:lnTo>
                  <a:pt x="68561" y="5929"/>
                </a:lnTo>
                <a:lnTo>
                  <a:pt x="69340" y="6681"/>
                </a:lnTo>
                <a:lnTo>
                  <a:pt x="70092" y="7460"/>
                </a:lnTo>
                <a:lnTo>
                  <a:pt x="70816" y="8296"/>
                </a:lnTo>
                <a:lnTo>
                  <a:pt x="71484" y="9158"/>
                </a:lnTo>
                <a:lnTo>
                  <a:pt x="72124" y="10049"/>
                </a:lnTo>
                <a:lnTo>
                  <a:pt x="72709" y="10968"/>
                </a:lnTo>
                <a:lnTo>
                  <a:pt x="73265" y="11914"/>
                </a:lnTo>
                <a:lnTo>
                  <a:pt x="73766" y="12888"/>
                </a:lnTo>
                <a:lnTo>
                  <a:pt x="74240" y="13891"/>
                </a:lnTo>
                <a:lnTo>
                  <a:pt x="74629" y="14921"/>
                </a:lnTo>
                <a:lnTo>
                  <a:pt x="74991" y="15978"/>
                </a:lnTo>
                <a:lnTo>
                  <a:pt x="75297" y="17064"/>
                </a:lnTo>
                <a:lnTo>
                  <a:pt x="75548" y="18150"/>
                </a:lnTo>
                <a:lnTo>
                  <a:pt x="75770" y="19263"/>
                </a:lnTo>
                <a:lnTo>
                  <a:pt x="75910" y="20404"/>
                </a:lnTo>
                <a:lnTo>
                  <a:pt x="75993" y="21546"/>
                </a:lnTo>
                <a:lnTo>
                  <a:pt x="76021" y="22715"/>
                </a:lnTo>
                <a:lnTo>
                  <a:pt x="76021" y="68032"/>
                </a:lnTo>
                <a:lnTo>
                  <a:pt x="76021" y="68032"/>
                </a:lnTo>
                <a:lnTo>
                  <a:pt x="75993" y="69201"/>
                </a:lnTo>
                <a:lnTo>
                  <a:pt x="75910" y="70342"/>
                </a:lnTo>
                <a:lnTo>
                  <a:pt x="75770" y="71483"/>
                </a:lnTo>
                <a:lnTo>
                  <a:pt x="75548" y="72597"/>
                </a:lnTo>
                <a:lnTo>
                  <a:pt x="75297" y="73682"/>
                </a:lnTo>
                <a:lnTo>
                  <a:pt x="74991" y="74768"/>
                </a:lnTo>
                <a:lnTo>
                  <a:pt x="74629" y="75826"/>
                </a:lnTo>
                <a:lnTo>
                  <a:pt x="74240" y="76856"/>
                </a:lnTo>
                <a:lnTo>
                  <a:pt x="73766" y="77858"/>
                </a:lnTo>
                <a:lnTo>
                  <a:pt x="73265" y="78832"/>
                </a:lnTo>
                <a:lnTo>
                  <a:pt x="72709" y="79779"/>
                </a:lnTo>
                <a:lnTo>
                  <a:pt x="72124" y="80697"/>
                </a:lnTo>
                <a:lnTo>
                  <a:pt x="71484" y="81588"/>
                </a:lnTo>
                <a:lnTo>
                  <a:pt x="70816" y="82451"/>
                </a:lnTo>
                <a:lnTo>
                  <a:pt x="70092" y="83286"/>
                </a:lnTo>
                <a:lnTo>
                  <a:pt x="69340" y="84065"/>
                </a:lnTo>
                <a:lnTo>
                  <a:pt x="68561" y="84817"/>
                </a:lnTo>
                <a:lnTo>
                  <a:pt x="67726" y="85541"/>
                </a:lnTo>
                <a:lnTo>
                  <a:pt x="66863" y="86209"/>
                </a:lnTo>
                <a:lnTo>
                  <a:pt x="65972" y="86849"/>
                </a:lnTo>
                <a:lnTo>
                  <a:pt x="65054" y="87434"/>
                </a:lnTo>
                <a:lnTo>
                  <a:pt x="64107" y="87990"/>
                </a:lnTo>
                <a:lnTo>
                  <a:pt x="63133" y="88491"/>
                </a:lnTo>
                <a:lnTo>
                  <a:pt x="62131" y="88965"/>
                </a:lnTo>
                <a:lnTo>
                  <a:pt x="61101" y="89354"/>
                </a:lnTo>
                <a:lnTo>
                  <a:pt x="60043" y="89716"/>
                </a:lnTo>
                <a:lnTo>
                  <a:pt x="58958" y="90022"/>
                </a:lnTo>
                <a:lnTo>
                  <a:pt x="57872" y="90273"/>
                </a:lnTo>
                <a:lnTo>
                  <a:pt x="56758" y="90495"/>
                </a:lnTo>
                <a:lnTo>
                  <a:pt x="55617" y="90635"/>
                </a:lnTo>
                <a:lnTo>
                  <a:pt x="54476" y="90718"/>
                </a:lnTo>
                <a:lnTo>
                  <a:pt x="53307" y="90746"/>
                </a:lnTo>
                <a:lnTo>
                  <a:pt x="53307" y="90746"/>
                </a:lnTo>
                <a:close/>
              </a:path>
            </a:pathLst>
          </a:custGeom>
          <a:noFill/>
          <a:ln w="1905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8" name="Google Shape;288;p46"/>
          <p:cNvCxnSpPr/>
          <p:nvPr/>
        </p:nvCxnSpPr>
        <p:spPr>
          <a:xfrm>
            <a:off x="780087" y="3826217"/>
            <a:ext cx="2137500" cy="0"/>
          </a:xfrm>
          <a:prstGeom prst="straightConnector1">
            <a:avLst/>
          </a:prstGeom>
          <a:noFill/>
          <a:ln w="19050" cap="flat" cmpd="sng">
            <a:solidFill>
              <a:srgbClr val="DADACE"/>
            </a:solidFill>
            <a:prstDash val="solid"/>
            <a:round/>
            <a:headEnd type="none" w="med" len="med"/>
            <a:tailEnd type="none" w="med" len="med"/>
          </a:ln>
        </p:spPr>
      </p:cxnSp>
    </p:spTree>
    <p:extLst>
      <p:ext uri="{BB962C8B-B14F-4D97-AF65-F5344CB8AC3E}">
        <p14:creationId xmlns:p14="http://schemas.microsoft.com/office/powerpoint/2010/main" val="3251033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4" name="Google Shape;294;p47"/>
          <p:cNvSpPr txBox="1">
            <a:spLocks noGrp="1"/>
          </p:cNvSpPr>
          <p:nvPr>
            <p:ph type="subTitle" idx="1"/>
          </p:nvPr>
        </p:nvSpPr>
        <p:spPr>
          <a:xfrm>
            <a:off x="1309200" y="3487861"/>
            <a:ext cx="7273968" cy="1210613"/>
          </a:xfrm>
          <a:prstGeom prst="rect">
            <a:avLst/>
          </a:prstGeom>
        </p:spPr>
        <p:txBody>
          <a:bodyPr spcFirstLastPara="1" wrap="square" lIns="91425" tIns="91425" rIns="91425" bIns="91425" anchor="t" anchorCtr="0">
            <a:noAutofit/>
          </a:bodyPr>
          <a:lstStyle/>
          <a:p>
            <a:pPr marL="0" indent="0" algn="just">
              <a:spcAft>
                <a:spcPts val="1600"/>
              </a:spcAft>
            </a:pPr>
            <a:r>
              <a:rPr lang="en-US" dirty="0"/>
              <a:t>The review focused on  two aspects of the defined archetypes: domain concepts and information representation. For the domain concepts review, the archetypes were represented as mind-maps initially for facilitating domain experts' review. Then, the meta-data and organizational structure of the concept was evaluated, including naming, description and terminology constraints, and the relationships between the data items.</a:t>
            </a:r>
          </a:p>
        </p:txBody>
      </p:sp>
      <p:pic>
        <p:nvPicPr>
          <p:cNvPr id="295" name="Google Shape;295;p47"/>
          <p:cNvPicPr preferRelativeResize="0"/>
          <p:nvPr/>
        </p:nvPicPr>
        <p:blipFill rotWithShape="1">
          <a:blip r:embed="rId3">
            <a:alphaModFix/>
          </a:blip>
          <a:srcRect t="30399" b="24213"/>
          <a:stretch/>
        </p:blipFill>
        <p:spPr>
          <a:xfrm>
            <a:off x="2133350" y="1145950"/>
            <a:ext cx="4877300" cy="2213676"/>
          </a:xfrm>
          <a:prstGeom prst="rect">
            <a:avLst/>
          </a:prstGeom>
          <a:noFill/>
          <a:ln>
            <a:noFill/>
          </a:ln>
        </p:spPr>
      </p:pic>
    </p:spTree>
    <p:extLst>
      <p:ext uri="{BB962C8B-B14F-4D97-AF65-F5344CB8AC3E}">
        <p14:creationId xmlns:p14="http://schemas.microsoft.com/office/powerpoint/2010/main" val="1476190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5"/>
          <p:cNvSpPr txBox="1">
            <a:spLocks noGrp="1"/>
          </p:cNvSpPr>
          <p:nvPr>
            <p:ph type="title"/>
          </p:nvPr>
        </p:nvSpPr>
        <p:spPr>
          <a:xfrm>
            <a:off x="1980150" y="1706850"/>
            <a:ext cx="5183700" cy="172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dirty="0"/>
              <a:t>Results</a:t>
            </a:r>
            <a:endParaRPr sz="4800" dirty="0"/>
          </a:p>
        </p:txBody>
      </p:sp>
      <p:pic>
        <p:nvPicPr>
          <p:cNvPr id="277" name="Google Shape;277;p45"/>
          <p:cNvPicPr preferRelativeResize="0"/>
          <p:nvPr/>
        </p:nvPicPr>
        <p:blipFill rotWithShape="1">
          <a:blip r:embed="rId3">
            <a:alphaModFix/>
          </a:blip>
          <a:srcRect l="60513" t="15763" r="16584" b="61860"/>
          <a:stretch/>
        </p:blipFill>
        <p:spPr>
          <a:xfrm>
            <a:off x="7329925" y="1786975"/>
            <a:ext cx="1094076" cy="1068950"/>
          </a:xfrm>
          <a:prstGeom prst="rect">
            <a:avLst/>
          </a:prstGeom>
          <a:noFill/>
          <a:ln>
            <a:noFill/>
          </a:ln>
        </p:spPr>
      </p:pic>
      <p:pic>
        <p:nvPicPr>
          <p:cNvPr id="278" name="Google Shape;278;p45"/>
          <p:cNvPicPr preferRelativeResize="0"/>
          <p:nvPr/>
        </p:nvPicPr>
        <p:blipFill rotWithShape="1">
          <a:blip r:embed="rId3">
            <a:alphaModFix/>
          </a:blip>
          <a:srcRect l="11567" t="35246" r="65531" b="34727"/>
          <a:stretch/>
        </p:blipFill>
        <p:spPr>
          <a:xfrm>
            <a:off x="581675" y="1675763"/>
            <a:ext cx="1094074" cy="14343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8" name="TextBox 7">
            <a:extLst>
              <a:ext uri="{FF2B5EF4-FFF2-40B4-BE49-F238E27FC236}">
                <a16:creationId xmlns:a16="http://schemas.microsoft.com/office/drawing/2014/main" id="{38ADE129-80B5-4FF1-A331-A7F9FEE7CA7F}"/>
              </a:ext>
            </a:extLst>
          </p:cNvPr>
          <p:cNvSpPr txBox="1"/>
          <p:nvPr/>
        </p:nvSpPr>
        <p:spPr>
          <a:xfrm>
            <a:off x="832513" y="1456831"/>
            <a:ext cx="7478973" cy="1992661"/>
          </a:xfrm>
          <a:prstGeom prst="rect">
            <a:avLst/>
          </a:prstGeom>
          <a:noFill/>
        </p:spPr>
        <p:txBody>
          <a:bodyPr wrap="square">
            <a:spAutoFit/>
          </a:bodyPr>
          <a:lstStyle/>
          <a:p>
            <a:pPr marL="0" marR="103505" indent="457200" algn="just">
              <a:lnSpc>
                <a:spcPct val="150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Sixty four archetypes were developed to represent all requirements of a complete EHR dataset. 59 (91%) archetypes could be found in Clinical Knowledge Manager (CKM), of which 35 could be reused directly without change, and 23 required further development including two revisions, two new versions, 18 extensions and one </a:t>
            </a:r>
            <a:r>
              <a:rPr lang="en-US" sz="1400" dirty="0">
                <a:effectLst/>
                <a:latin typeface="Exo"/>
                <a:ea typeface="Calibri" panose="020F0502020204030204" pitchFamily="34" charset="0"/>
                <a:cs typeface="Times New Roman" panose="02020603050405020304" pitchFamily="18" charset="0"/>
              </a:rPr>
              <a:t>specialization</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Meanwhile, 6 (9%) archetypes were newly developed. The legacy data of the EHR system in hospitals could be integrated into the CDR developed with these archetypes successfully.</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5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7" name="Google Shape;262;p44">
            <a:extLst>
              <a:ext uri="{FF2B5EF4-FFF2-40B4-BE49-F238E27FC236}">
                <a16:creationId xmlns:a16="http://schemas.microsoft.com/office/drawing/2014/main" id="{3DEA7AC1-8083-40AD-BE81-74FC8EC43558}"/>
              </a:ext>
            </a:extLst>
          </p:cNvPr>
          <p:cNvSpPr txBox="1">
            <a:spLocks noGrp="1"/>
          </p:cNvSpPr>
          <p:nvPr>
            <p:ph type="title"/>
          </p:nvPr>
        </p:nvSpPr>
        <p:spPr>
          <a:xfrm>
            <a:off x="720000" y="170523"/>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800" dirty="0"/>
              <a:t>The searched results of domain concepts </a:t>
            </a:r>
            <a:endParaRPr sz="2800" dirty="0"/>
          </a:p>
        </p:txBody>
      </p:sp>
      <p:graphicFrame>
        <p:nvGraphicFramePr>
          <p:cNvPr id="2" name="Table 1">
            <a:extLst>
              <a:ext uri="{FF2B5EF4-FFF2-40B4-BE49-F238E27FC236}">
                <a16:creationId xmlns:a16="http://schemas.microsoft.com/office/drawing/2014/main" id="{EE4176FD-FB84-4032-AAAA-F21D40E40E24}"/>
              </a:ext>
            </a:extLst>
          </p:cNvPr>
          <p:cNvGraphicFramePr>
            <a:graphicFrameLocks noGrp="1"/>
          </p:cNvGraphicFramePr>
          <p:nvPr>
            <p:extLst>
              <p:ext uri="{D42A27DB-BD31-4B8C-83A1-F6EECF244321}">
                <p14:modId xmlns:p14="http://schemas.microsoft.com/office/powerpoint/2010/main" val="1318034308"/>
              </p:ext>
            </p:extLst>
          </p:nvPr>
        </p:nvGraphicFramePr>
        <p:xfrm>
          <a:off x="3231633" y="859630"/>
          <a:ext cx="2680734" cy="2711644"/>
        </p:xfrm>
        <a:graphic>
          <a:graphicData uri="http://schemas.openxmlformats.org/drawingml/2006/table">
            <a:tbl>
              <a:tblPr firstRow="1" firstCol="1" bandRow="1">
                <a:tableStyleId>{5D4F0FF1-9BCB-4F77-A7EB-CB2CC291F9E9}</a:tableStyleId>
              </a:tblPr>
              <a:tblGrid>
                <a:gridCol w="1467041">
                  <a:extLst>
                    <a:ext uri="{9D8B030D-6E8A-4147-A177-3AD203B41FA5}">
                      <a16:colId xmlns:a16="http://schemas.microsoft.com/office/drawing/2014/main" val="3927110988"/>
                    </a:ext>
                  </a:extLst>
                </a:gridCol>
                <a:gridCol w="1213693">
                  <a:extLst>
                    <a:ext uri="{9D8B030D-6E8A-4147-A177-3AD203B41FA5}">
                      <a16:colId xmlns:a16="http://schemas.microsoft.com/office/drawing/2014/main" val="3543382173"/>
                    </a:ext>
                  </a:extLst>
                </a:gridCol>
              </a:tblGrid>
              <a:tr h="481490">
                <a:tc>
                  <a:txBody>
                    <a:bodyPr/>
                    <a:lstStyle/>
                    <a:p>
                      <a:pPr marL="0" marR="0" indent="0" algn="l">
                        <a:lnSpc>
                          <a:spcPct val="107000"/>
                        </a:lnSpc>
                        <a:spcBef>
                          <a:spcPts val="0"/>
                        </a:spcBef>
                        <a:spcAft>
                          <a:spcPts val="0"/>
                        </a:spcAft>
                      </a:pPr>
                      <a:r>
                        <a:rPr lang="en-US" sz="300" dirty="0">
                          <a:effectLst/>
                        </a:rPr>
                        <a:t>Demographics</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635" marR="0" indent="0" algn="l">
                        <a:lnSpc>
                          <a:spcPct val="107000"/>
                        </a:lnSpc>
                        <a:spcBef>
                          <a:spcPts val="0"/>
                        </a:spcBef>
                        <a:spcAft>
                          <a:spcPts val="0"/>
                        </a:spcAft>
                      </a:pPr>
                      <a:r>
                        <a:rPr lang="en-US" sz="300" dirty="0">
                          <a:effectLst/>
                        </a:rPr>
                        <a:t>openEHR-DEMOGRAPHIC-ADDRESS.address.v1</a:t>
                      </a:r>
                      <a:endParaRPr lang="en-US" sz="400" dirty="0">
                        <a:effectLst/>
                      </a:endParaRPr>
                    </a:p>
                    <a:p>
                      <a:pPr marL="635" marR="0" indent="0" algn="l">
                        <a:lnSpc>
                          <a:spcPct val="142000"/>
                        </a:lnSpc>
                        <a:spcBef>
                          <a:spcPts val="0"/>
                        </a:spcBef>
                        <a:spcAft>
                          <a:spcPts val="0"/>
                        </a:spcAft>
                      </a:pPr>
                      <a:r>
                        <a:rPr lang="en-US" sz="300" dirty="0">
                          <a:effectLst/>
                        </a:rPr>
                        <a:t>openEHR-DEMOGRAPHIC-ADDRESS.electronic_communication.v1 openEHR-DEMOGRAPHIC-PERSON.person.v1</a:t>
                      </a:r>
                      <a:endParaRPr lang="en-US" sz="400" dirty="0">
                        <a:effectLst/>
                      </a:endParaRPr>
                    </a:p>
                    <a:p>
                      <a:pPr marL="635" marR="0" indent="0" algn="l">
                        <a:lnSpc>
                          <a:spcPct val="107000"/>
                        </a:lnSpc>
                        <a:spcBef>
                          <a:spcPts val="0"/>
                        </a:spcBef>
                        <a:spcAft>
                          <a:spcPts val="0"/>
                        </a:spcAft>
                      </a:pPr>
                      <a:r>
                        <a:rPr lang="en-US" sz="300" dirty="0">
                          <a:effectLst/>
                        </a:rPr>
                        <a:t>openEHR-DEMOGRAPHIC-PARTY_IDENTITY.person_name.v1 openEHR-DEMOGRAPHIC-ORGANISATION.organisation.v1 openEHR-DEMOGRAPHIC-CLUSTER.person_identifier-provider.v1 openEHR-DEMOGRAPHIC-CLUSTER.person_identifier.v1 openEHR-DEMOGRAPHIC-PERSON.person-patient.v1 openEHR-DEMOGRAPHIC-ITEM_TREE.person_details.v1</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654763005"/>
                  </a:ext>
                </a:extLst>
              </a:tr>
              <a:tr h="63655">
                <a:tc>
                  <a:txBody>
                    <a:bodyPr/>
                    <a:lstStyle/>
                    <a:p>
                      <a:pPr marL="0" marR="0" indent="0" algn="l">
                        <a:lnSpc>
                          <a:spcPct val="107000"/>
                        </a:lnSpc>
                        <a:spcBef>
                          <a:spcPts val="0"/>
                        </a:spcBef>
                        <a:spcAft>
                          <a:spcPts val="0"/>
                        </a:spcAft>
                      </a:pPr>
                      <a:r>
                        <a:rPr lang="en-US" sz="300" dirty="0">
                          <a:effectLst/>
                        </a:rPr>
                        <a:t>Immunization summary</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openEHR-EHR-EVALUATION.Immunization_summary.v1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869521685"/>
                  </a:ext>
                </a:extLst>
              </a:tr>
              <a:tr h="63655">
                <a:tc>
                  <a:txBody>
                    <a:bodyPr/>
                    <a:lstStyle/>
                    <a:p>
                      <a:pPr marL="0" marR="0" indent="0" algn="l">
                        <a:lnSpc>
                          <a:spcPct val="107000"/>
                        </a:lnSpc>
                        <a:spcBef>
                          <a:spcPts val="0"/>
                        </a:spcBef>
                        <a:spcAft>
                          <a:spcPts val="0"/>
                        </a:spcAft>
                      </a:pPr>
                      <a:r>
                        <a:rPr lang="en-US" sz="300">
                          <a:effectLst/>
                        </a:rPr>
                        <a:t>Social summary</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openEHR-EHR-EVALUATION.social_summary.v1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529699640"/>
                  </a:ext>
                </a:extLst>
              </a:tr>
              <a:tr h="63655">
                <a:tc>
                  <a:txBody>
                    <a:bodyPr/>
                    <a:lstStyle/>
                    <a:p>
                      <a:pPr marL="0" marR="0" indent="0" algn="l">
                        <a:lnSpc>
                          <a:spcPct val="107000"/>
                        </a:lnSpc>
                        <a:spcBef>
                          <a:spcPts val="0"/>
                        </a:spcBef>
                        <a:spcAft>
                          <a:spcPts val="0"/>
                        </a:spcAft>
                      </a:pPr>
                      <a:r>
                        <a:rPr lang="en-US" sz="300">
                          <a:effectLst/>
                        </a:rPr>
                        <a:t>Pregnancy history document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openEHR-EHR-COMPOSITION.pregnancy_summary.v1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2706291134"/>
                  </a:ext>
                </a:extLst>
              </a:tr>
              <a:tr h="121010">
                <a:tc>
                  <a:txBody>
                    <a:bodyPr/>
                    <a:lstStyle/>
                    <a:p>
                      <a:pPr marL="0" marR="0" indent="0" algn="l">
                        <a:lnSpc>
                          <a:spcPct val="107000"/>
                        </a:lnSpc>
                        <a:spcBef>
                          <a:spcPts val="0"/>
                        </a:spcBef>
                        <a:spcAft>
                          <a:spcPts val="0"/>
                        </a:spcAft>
                      </a:pPr>
                      <a:r>
                        <a:rPr lang="en-US" sz="300" dirty="0">
                          <a:effectLst/>
                        </a:rPr>
                        <a:t>Pregnancy history</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openEHR-EHR-EVALUATION.pregnancy_summary.v0 openEHR-EHR-CLUSTER.document_entry_metadata.v1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508782374"/>
                  </a:ext>
                </a:extLst>
              </a:tr>
              <a:tr h="63655">
                <a:tc>
                  <a:txBody>
                    <a:bodyPr/>
                    <a:lstStyle/>
                    <a:p>
                      <a:pPr marL="0" marR="0" indent="0" algn="l">
                        <a:lnSpc>
                          <a:spcPct val="107000"/>
                        </a:lnSpc>
                        <a:spcBef>
                          <a:spcPts val="0"/>
                        </a:spcBef>
                        <a:spcAft>
                          <a:spcPts val="0"/>
                        </a:spcAft>
                      </a:pPr>
                      <a:r>
                        <a:rPr lang="en-US" sz="300">
                          <a:effectLst/>
                        </a:rPr>
                        <a:t>Vaccination history</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openEHR-EHR-EVALUATION.vaccination_summary.v1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038014985"/>
                  </a:ext>
                </a:extLst>
              </a:tr>
              <a:tr h="63655">
                <a:tc>
                  <a:txBody>
                    <a:bodyPr/>
                    <a:lstStyle/>
                    <a:p>
                      <a:pPr marL="0" marR="0" indent="0" algn="l">
                        <a:lnSpc>
                          <a:spcPct val="107000"/>
                        </a:lnSpc>
                        <a:spcBef>
                          <a:spcPts val="0"/>
                        </a:spcBef>
                        <a:spcAft>
                          <a:spcPts val="0"/>
                        </a:spcAft>
                      </a:pPr>
                      <a:r>
                        <a:rPr lang="en-US" sz="300">
                          <a:effectLst/>
                        </a:rPr>
                        <a:t>Health history</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openEHR-EHR-EVALUATION.health_risk.v1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155986697"/>
                  </a:ext>
                </a:extLst>
              </a:tr>
              <a:tr h="63655">
                <a:tc>
                  <a:txBody>
                    <a:bodyPr/>
                    <a:lstStyle/>
                    <a:p>
                      <a:pPr marL="0" marR="0" indent="0" algn="l">
                        <a:lnSpc>
                          <a:spcPct val="107000"/>
                        </a:lnSpc>
                        <a:spcBef>
                          <a:spcPts val="0"/>
                        </a:spcBef>
                        <a:spcAft>
                          <a:spcPts val="0"/>
                        </a:spcAft>
                      </a:pPr>
                      <a:r>
                        <a:rPr lang="en-US" sz="300">
                          <a:effectLst/>
                        </a:rPr>
                        <a:t>Family history document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openEHR-EHR-COMPOSITION.family_history.v1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393631580"/>
                  </a:ext>
                </a:extLst>
              </a:tr>
              <a:tr h="181792">
                <a:tc>
                  <a:txBody>
                    <a:bodyPr/>
                    <a:lstStyle/>
                    <a:p>
                      <a:pPr marL="0" marR="0" indent="0" algn="l">
                        <a:lnSpc>
                          <a:spcPct val="107000"/>
                        </a:lnSpc>
                        <a:spcBef>
                          <a:spcPts val="0"/>
                        </a:spcBef>
                        <a:spcAft>
                          <a:spcPts val="0"/>
                        </a:spcAft>
                      </a:pPr>
                      <a:r>
                        <a:rPr lang="en-US" sz="300">
                          <a:effectLst/>
                        </a:rPr>
                        <a:t>Family history</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openEHR-EHR-EVALUATION.family_history.v2 openEHR-EHR-EVALUATION.exclusion-family_history.v1 openEHR-EHR-CLUSTER.person_name.v1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557875979"/>
                  </a:ext>
                </a:extLst>
              </a:tr>
              <a:tr h="68793">
                <a:tc>
                  <a:txBody>
                    <a:bodyPr/>
                    <a:lstStyle/>
                    <a:p>
                      <a:pPr marL="0" marR="0" indent="0" algn="l">
                        <a:lnSpc>
                          <a:spcPct val="107000"/>
                        </a:lnSpc>
                        <a:spcBef>
                          <a:spcPts val="0"/>
                        </a:spcBef>
                        <a:spcAft>
                          <a:spcPts val="0"/>
                        </a:spcAft>
                      </a:pPr>
                      <a:r>
                        <a:rPr lang="en-US" sz="300">
                          <a:effectLst/>
                        </a:rPr>
                        <a:t>Progress note document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openEHR-EHR-COMPOSITION.progress_note.v1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4139160379"/>
                  </a:ext>
                </a:extLst>
              </a:tr>
              <a:tr h="196593">
                <a:tc>
                  <a:txBody>
                    <a:bodyPr/>
                    <a:lstStyle/>
                    <a:p>
                      <a:pPr marL="0" marR="0" indent="0" algn="l">
                        <a:lnSpc>
                          <a:spcPct val="107000"/>
                        </a:lnSpc>
                        <a:spcBef>
                          <a:spcPts val="0"/>
                        </a:spcBef>
                        <a:spcAft>
                          <a:spcPts val="0"/>
                        </a:spcAft>
                      </a:pPr>
                      <a:r>
                        <a:rPr lang="en-US" sz="300">
                          <a:effectLst/>
                        </a:rPr>
                        <a:t>Progress note</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openEHR-EHR-EVALUATION.absence.v1 openEHR-EHR-CLUSTER.distribution.v1 openEHR-EHR-EVALUATION.exclusion.v1 openEHR-EHR-OBSERVATION.progress_note.v1</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842541430"/>
                  </a:ext>
                </a:extLst>
              </a:tr>
              <a:tr h="235744">
                <a:tc>
                  <a:txBody>
                    <a:bodyPr/>
                    <a:lstStyle/>
                    <a:p>
                      <a:pPr marL="0" marR="0" indent="0" algn="l">
                        <a:lnSpc>
                          <a:spcPct val="107000"/>
                        </a:lnSpc>
                        <a:spcBef>
                          <a:spcPts val="0"/>
                        </a:spcBef>
                        <a:spcAft>
                          <a:spcPts val="0"/>
                        </a:spcAft>
                      </a:pPr>
                      <a:r>
                        <a:rPr lang="en-US" sz="300">
                          <a:effectLst/>
                        </a:rPr>
                        <a:t>Admission</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openEHR-EHR-ADMIN_ENTRY.admission.v1 openEHR-EHR-CLUSTER.address.v1 openEHR-EHR-CLUSTER.organisation.v0 openEHR-EHR-CLUSTER.education.v1 openEHR-EHR-CLUSTER.household.v0 openEHR-EHR-CLUSTER.employment.v0</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576183503"/>
                  </a:ext>
                </a:extLst>
              </a:tr>
              <a:tr h="77082">
                <a:tc>
                  <a:txBody>
                    <a:bodyPr/>
                    <a:lstStyle/>
                    <a:p>
                      <a:pPr marL="0" marR="0" indent="0" algn="l">
                        <a:lnSpc>
                          <a:spcPct val="107000"/>
                        </a:lnSpc>
                        <a:spcBef>
                          <a:spcPts val="0"/>
                        </a:spcBef>
                        <a:spcAft>
                          <a:spcPts val="0"/>
                        </a:spcAft>
                      </a:pPr>
                      <a:r>
                        <a:rPr lang="en-US" sz="300">
                          <a:effectLst/>
                        </a:rPr>
                        <a:t>Discharge</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openEHR-EHR-ADMIN_ENTRY.discharge_admin_info.v3</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749751984"/>
                  </a:ext>
                </a:extLst>
              </a:tr>
              <a:tr h="77082">
                <a:tc>
                  <a:txBody>
                    <a:bodyPr/>
                    <a:lstStyle/>
                    <a:p>
                      <a:pPr marL="0" marR="0" indent="0" algn="l">
                        <a:lnSpc>
                          <a:spcPct val="107000"/>
                        </a:lnSpc>
                        <a:spcBef>
                          <a:spcPts val="0"/>
                        </a:spcBef>
                        <a:spcAft>
                          <a:spcPts val="0"/>
                        </a:spcAft>
                      </a:pPr>
                      <a:r>
                        <a:rPr lang="en-US" sz="300">
                          <a:effectLst/>
                        </a:rPr>
                        <a:t>Blood matching</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openEHR-EHR-OBSERVATION.blood_match.v1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752203934"/>
                  </a:ext>
                </a:extLst>
              </a:tr>
              <a:tr h="77082">
                <a:tc>
                  <a:txBody>
                    <a:bodyPr/>
                    <a:lstStyle/>
                    <a:p>
                      <a:pPr marL="0" marR="0" indent="0" algn="l">
                        <a:lnSpc>
                          <a:spcPct val="107000"/>
                        </a:lnSpc>
                        <a:spcBef>
                          <a:spcPts val="0"/>
                        </a:spcBef>
                        <a:spcAft>
                          <a:spcPts val="0"/>
                        </a:spcAft>
                      </a:pPr>
                      <a:r>
                        <a:rPr lang="en-US" sz="300">
                          <a:effectLst/>
                        </a:rPr>
                        <a:t>Transfusion request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openEHR-EHR-INSTRUCTION.transfusion.v0</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864984885"/>
                  </a:ext>
                </a:extLst>
              </a:tr>
              <a:tr h="77082">
                <a:tc>
                  <a:txBody>
                    <a:bodyPr/>
                    <a:lstStyle/>
                    <a:p>
                      <a:pPr marL="0" marR="0" indent="0" algn="l">
                        <a:lnSpc>
                          <a:spcPct val="107000"/>
                        </a:lnSpc>
                        <a:spcBef>
                          <a:spcPts val="0"/>
                        </a:spcBef>
                        <a:spcAft>
                          <a:spcPts val="0"/>
                        </a:spcAft>
                      </a:pPr>
                      <a:r>
                        <a:rPr lang="en-US" sz="300">
                          <a:effectLst/>
                        </a:rPr>
                        <a:t>Transfusion process</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openEHR-EHR-ACTION.transfusion.v1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930812663"/>
                  </a:ext>
                </a:extLst>
              </a:tr>
              <a:tr h="227453">
                <a:tc>
                  <a:txBody>
                    <a:bodyPr/>
                    <a:lstStyle/>
                    <a:p>
                      <a:pPr marL="0" marR="0" indent="0" algn="l">
                        <a:lnSpc>
                          <a:spcPct val="107000"/>
                        </a:lnSpc>
                        <a:spcBef>
                          <a:spcPts val="0"/>
                        </a:spcBef>
                        <a:spcAft>
                          <a:spcPts val="0"/>
                        </a:spcAft>
                      </a:pPr>
                      <a:r>
                        <a:rPr lang="en-US" sz="300">
                          <a:effectLst/>
                        </a:rPr>
                        <a:t>Medication request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openEHR-EHR-INSTRUCTION.medication_order.v1 openEHR-EHR-CLUSTER.medication_ingredients.v1 openEHR-EHR-CLUSTER.medication_admin.v1 openEHR-EHR-CLUSTER.timing.v1 openEHR-EHR-ACTION.medication.v0</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930176756"/>
                  </a:ext>
                </a:extLst>
              </a:tr>
              <a:tr h="121444">
                <a:tc>
                  <a:txBody>
                    <a:bodyPr/>
                    <a:lstStyle/>
                    <a:p>
                      <a:pPr marL="0" marR="0" indent="0" algn="l">
                        <a:lnSpc>
                          <a:spcPct val="107000"/>
                        </a:lnSpc>
                        <a:spcBef>
                          <a:spcPts val="0"/>
                        </a:spcBef>
                        <a:spcAft>
                          <a:spcPts val="0"/>
                        </a:spcAft>
                      </a:pPr>
                      <a:r>
                        <a:rPr lang="en-US" sz="300" dirty="0">
                          <a:effectLst/>
                        </a:rPr>
                        <a:t>Lab test request</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openEHR-EHR-INSTRUCTION.request-lab_test.v1 openEHR-EHR-CLUSTER.specimen.v0</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008709643"/>
                  </a:ext>
                </a:extLst>
              </a:tr>
              <a:tr h="77082">
                <a:tc>
                  <a:txBody>
                    <a:bodyPr/>
                    <a:lstStyle/>
                    <a:p>
                      <a:pPr marL="0" marR="0" indent="0" algn="l">
                        <a:lnSpc>
                          <a:spcPct val="107000"/>
                        </a:lnSpc>
                        <a:spcBef>
                          <a:spcPts val="0"/>
                        </a:spcBef>
                        <a:spcAft>
                          <a:spcPts val="0"/>
                        </a:spcAft>
                      </a:pPr>
                      <a:r>
                        <a:rPr lang="en-US" sz="300" dirty="0">
                          <a:effectLst/>
                        </a:rPr>
                        <a:t>Lab test process</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a:effectLst/>
                        </a:rPr>
                        <a:t>openEHR-EHR-INSTRUCTION.lab_test.v1</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050269134"/>
                  </a:ext>
                </a:extLst>
              </a:tr>
              <a:tr h="77082">
                <a:tc>
                  <a:txBody>
                    <a:bodyPr/>
                    <a:lstStyle/>
                    <a:p>
                      <a:pPr marL="0" marR="0" indent="0" algn="l">
                        <a:lnSpc>
                          <a:spcPct val="107000"/>
                        </a:lnSpc>
                        <a:spcBef>
                          <a:spcPts val="0"/>
                        </a:spcBef>
                        <a:spcAft>
                          <a:spcPts val="0"/>
                        </a:spcAft>
                      </a:pPr>
                      <a:r>
                        <a:rPr lang="en-US" sz="300" dirty="0">
                          <a:effectLst/>
                        </a:rPr>
                        <a:t>Lab test result</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openEHR-EHR-OBSERVATION.lab_test.v1</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836916354"/>
                  </a:ext>
                </a:extLst>
              </a:tr>
              <a:tr h="77082">
                <a:tc>
                  <a:txBody>
                    <a:bodyPr/>
                    <a:lstStyle/>
                    <a:p>
                      <a:pPr marL="0" marR="0" indent="0" algn="l">
                        <a:lnSpc>
                          <a:spcPct val="107000"/>
                        </a:lnSpc>
                        <a:spcBef>
                          <a:spcPts val="0"/>
                        </a:spcBef>
                        <a:spcAft>
                          <a:spcPts val="0"/>
                        </a:spcAft>
                      </a:pPr>
                      <a:r>
                        <a:rPr lang="en-US" sz="300" dirty="0">
                          <a:effectLst/>
                        </a:rPr>
                        <a:t>Newborn</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openEHR-EHR-OBSERVATION.apgar.v1</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2387637644"/>
                  </a:ext>
                </a:extLst>
              </a:tr>
              <a:tr h="77082">
                <a:tc>
                  <a:txBody>
                    <a:bodyPr/>
                    <a:lstStyle/>
                    <a:p>
                      <a:pPr marL="0" marR="0" indent="0" algn="l">
                        <a:lnSpc>
                          <a:spcPct val="107000"/>
                        </a:lnSpc>
                        <a:spcBef>
                          <a:spcPts val="0"/>
                        </a:spcBef>
                        <a:spcAft>
                          <a:spcPts val="0"/>
                        </a:spcAft>
                      </a:pPr>
                      <a:r>
                        <a:rPr lang="en-US" sz="300">
                          <a:effectLst/>
                        </a:rPr>
                        <a:t>Height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openEHR-EHR-OBSERVATION.height.v1</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468927109"/>
                  </a:ext>
                </a:extLst>
              </a:tr>
              <a:tr h="78739">
                <a:tc>
                  <a:txBody>
                    <a:bodyPr/>
                    <a:lstStyle/>
                    <a:p>
                      <a:pPr marL="0" marR="0" indent="0" algn="l">
                        <a:lnSpc>
                          <a:spcPct val="107000"/>
                        </a:lnSpc>
                        <a:spcBef>
                          <a:spcPts val="0"/>
                        </a:spcBef>
                        <a:spcAft>
                          <a:spcPts val="0"/>
                        </a:spcAft>
                      </a:pPr>
                      <a:r>
                        <a:rPr lang="en-US" sz="300">
                          <a:effectLst/>
                        </a:rPr>
                        <a:t>Weight</a:t>
                      </a:r>
                      <a:endParaRPr lang="en-US" sz="4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openEHR-EHR-OBSERVATION.body_weight.v2</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492697390"/>
                  </a:ext>
                </a:extLst>
              </a:tr>
            </a:tbl>
          </a:graphicData>
        </a:graphic>
      </p:graphicFrame>
      <p:graphicFrame>
        <p:nvGraphicFramePr>
          <p:cNvPr id="11" name="Table 10">
            <a:extLst>
              <a:ext uri="{FF2B5EF4-FFF2-40B4-BE49-F238E27FC236}">
                <a16:creationId xmlns:a16="http://schemas.microsoft.com/office/drawing/2014/main" id="{33ADF3FF-BB4D-4CAA-AD86-C7BF14A4E9ED}"/>
              </a:ext>
            </a:extLst>
          </p:cNvPr>
          <p:cNvGraphicFramePr>
            <a:graphicFrameLocks noGrp="1"/>
          </p:cNvGraphicFramePr>
          <p:nvPr>
            <p:extLst>
              <p:ext uri="{D42A27DB-BD31-4B8C-83A1-F6EECF244321}">
                <p14:modId xmlns:p14="http://schemas.microsoft.com/office/powerpoint/2010/main" val="3886740546"/>
              </p:ext>
            </p:extLst>
          </p:nvPr>
        </p:nvGraphicFramePr>
        <p:xfrm>
          <a:off x="3231633" y="3572703"/>
          <a:ext cx="2680734" cy="455962"/>
        </p:xfrm>
        <a:graphic>
          <a:graphicData uri="http://schemas.openxmlformats.org/drawingml/2006/table">
            <a:tbl>
              <a:tblPr firstRow="1" firstCol="1" bandRow="1">
                <a:tableStyleId>{5D4F0FF1-9BCB-4F77-A7EB-CB2CC291F9E9}</a:tableStyleId>
              </a:tblPr>
              <a:tblGrid>
                <a:gridCol w="1467041">
                  <a:extLst>
                    <a:ext uri="{9D8B030D-6E8A-4147-A177-3AD203B41FA5}">
                      <a16:colId xmlns:a16="http://schemas.microsoft.com/office/drawing/2014/main" val="945977911"/>
                    </a:ext>
                  </a:extLst>
                </a:gridCol>
                <a:gridCol w="1213693">
                  <a:extLst>
                    <a:ext uri="{9D8B030D-6E8A-4147-A177-3AD203B41FA5}">
                      <a16:colId xmlns:a16="http://schemas.microsoft.com/office/drawing/2014/main" val="2602359297"/>
                    </a:ext>
                  </a:extLst>
                </a:gridCol>
              </a:tblGrid>
              <a:tr h="68895">
                <a:tc>
                  <a:txBody>
                    <a:bodyPr/>
                    <a:lstStyle/>
                    <a:p>
                      <a:pPr marL="0" marR="0" indent="0" algn="l">
                        <a:lnSpc>
                          <a:spcPct val="107000"/>
                        </a:lnSpc>
                        <a:spcBef>
                          <a:spcPts val="0"/>
                        </a:spcBef>
                        <a:spcAft>
                          <a:spcPts val="0"/>
                        </a:spcAft>
                      </a:pPr>
                      <a:r>
                        <a:rPr lang="en-US" sz="300" dirty="0">
                          <a:effectLst/>
                        </a:rPr>
                        <a:t>Body surface area</a:t>
                      </a:r>
                      <a:endParaRPr lang="en-US" sz="5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openEHR-EHR-OBSERVATION.body_surface_area.v0</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4252311496"/>
                  </a:ext>
                </a:extLst>
              </a:tr>
              <a:tr h="77082">
                <a:tc>
                  <a:txBody>
                    <a:bodyPr/>
                    <a:lstStyle/>
                    <a:p>
                      <a:pPr marL="0" marR="0" indent="0" algn="l">
                        <a:lnSpc>
                          <a:spcPct val="107000"/>
                        </a:lnSpc>
                        <a:spcBef>
                          <a:spcPts val="0"/>
                        </a:spcBef>
                        <a:spcAft>
                          <a:spcPts val="0"/>
                        </a:spcAft>
                      </a:pPr>
                      <a:r>
                        <a:rPr lang="en-US" sz="300" dirty="0">
                          <a:effectLst/>
                        </a:rPr>
                        <a:t>BMI</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openEHR-EHR-OBSERVATION.body_mass_index.v2</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916890620"/>
                  </a:ext>
                </a:extLst>
              </a:tr>
              <a:tr h="77082">
                <a:tc>
                  <a:txBody>
                    <a:bodyPr/>
                    <a:lstStyle/>
                    <a:p>
                      <a:pPr marL="0" marR="0" indent="0" algn="l">
                        <a:lnSpc>
                          <a:spcPct val="107000"/>
                        </a:lnSpc>
                        <a:spcBef>
                          <a:spcPts val="0"/>
                        </a:spcBef>
                        <a:spcAft>
                          <a:spcPts val="0"/>
                        </a:spcAft>
                      </a:pPr>
                      <a:r>
                        <a:rPr lang="en-US" sz="300" dirty="0">
                          <a:effectLst/>
                        </a:rPr>
                        <a:t>Temperature</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openEHR-EHR-OBSERVATION.body_temperature.v2</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765902795"/>
                  </a:ext>
                </a:extLst>
              </a:tr>
              <a:tr h="77082">
                <a:tc>
                  <a:txBody>
                    <a:bodyPr/>
                    <a:lstStyle/>
                    <a:p>
                      <a:pPr marL="0" marR="0" indent="0" algn="l">
                        <a:lnSpc>
                          <a:spcPct val="107000"/>
                        </a:lnSpc>
                        <a:spcBef>
                          <a:spcPts val="0"/>
                        </a:spcBef>
                        <a:spcAft>
                          <a:spcPts val="0"/>
                        </a:spcAft>
                      </a:pPr>
                      <a:r>
                        <a:rPr lang="en-US" sz="300" dirty="0">
                          <a:effectLst/>
                        </a:rPr>
                        <a:t>Consultation</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US" sz="300" dirty="0">
                          <a:effectLst/>
                        </a:rPr>
                        <a:t>openEHR-EHR-INSTRUCTION.request.v0</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500325326"/>
                  </a:ext>
                </a:extLst>
              </a:tr>
              <a:tr h="77082">
                <a:tc>
                  <a:txBody>
                    <a:bodyPr/>
                    <a:lstStyle/>
                    <a:p>
                      <a:pPr marL="0" marR="0" indent="0" algn="l">
                        <a:lnSpc>
                          <a:spcPct val="107000"/>
                        </a:lnSpc>
                        <a:spcBef>
                          <a:spcPts val="0"/>
                        </a:spcBef>
                        <a:spcAft>
                          <a:spcPts val="0"/>
                        </a:spcAft>
                      </a:pPr>
                      <a:r>
                        <a:rPr lang="en-US" sz="300" dirty="0">
                          <a:effectLst/>
                        </a:rPr>
                        <a:t>Order request</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openEHR-EHR-INSTRUCTION.request.v0</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396824162"/>
                  </a:ext>
                </a:extLst>
              </a:tr>
              <a:tr h="78739">
                <a:tc>
                  <a:txBody>
                    <a:bodyPr/>
                    <a:lstStyle/>
                    <a:p>
                      <a:pPr marL="0" marR="0" indent="0" algn="l">
                        <a:lnSpc>
                          <a:spcPct val="107000"/>
                        </a:lnSpc>
                        <a:spcBef>
                          <a:spcPts val="0"/>
                        </a:spcBef>
                        <a:spcAft>
                          <a:spcPts val="0"/>
                        </a:spcAft>
                      </a:pPr>
                      <a:r>
                        <a:rPr lang="en-US" sz="300" dirty="0">
                          <a:effectLst/>
                        </a:rPr>
                        <a:t>Order process</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US" sz="300" dirty="0">
                          <a:effectLst/>
                        </a:rPr>
                        <a:t>openEHR-EHR-ACTION.procedure.v1</a:t>
                      </a:r>
                      <a:endParaRPr lang="en-US" sz="5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663141845"/>
                  </a:ext>
                </a:extLst>
              </a:tr>
            </a:tbl>
          </a:graphicData>
        </a:graphic>
      </p:graphicFrame>
      <p:graphicFrame>
        <p:nvGraphicFramePr>
          <p:cNvPr id="12" name="Table 11">
            <a:extLst>
              <a:ext uri="{FF2B5EF4-FFF2-40B4-BE49-F238E27FC236}">
                <a16:creationId xmlns:a16="http://schemas.microsoft.com/office/drawing/2014/main" id="{D8A2417C-903F-4303-9D91-7F629B6393C1}"/>
              </a:ext>
            </a:extLst>
          </p:cNvPr>
          <p:cNvGraphicFramePr>
            <a:graphicFrameLocks noGrp="1"/>
          </p:cNvGraphicFramePr>
          <p:nvPr>
            <p:extLst>
              <p:ext uri="{D42A27DB-BD31-4B8C-83A1-F6EECF244321}">
                <p14:modId xmlns:p14="http://schemas.microsoft.com/office/powerpoint/2010/main" val="4195839408"/>
              </p:ext>
            </p:extLst>
          </p:nvPr>
        </p:nvGraphicFramePr>
        <p:xfrm>
          <a:off x="3231633" y="4028665"/>
          <a:ext cx="2680734" cy="308328"/>
        </p:xfrm>
        <a:graphic>
          <a:graphicData uri="http://schemas.openxmlformats.org/drawingml/2006/table">
            <a:tbl>
              <a:tblPr firstRow="1" firstCol="1" bandRow="1">
                <a:tableStyleId>{5D4F0FF1-9BCB-4F77-A7EB-CB2CC291F9E9}</a:tableStyleId>
              </a:tblPr>
              <a:tblGrid>
                <a:gridCol w="1467041">
                  <a:extLst>
                    <a:ext uri="{9D8B030D-6E8A-4147-A177-3AD203B41FA5}">
                      <a16:colId xmlns:a16="http://schemas.microsoft.com/office/drawing/2014/main" val="1737565068"/>
                    </a:ext>
                  </a:extLst>
                </a:gridCol>
                <a:gridCol w="1213693">
                  <a:extLst>
                    <a:ext uri="{9D8B030D-6E8A-4147-A177-3AD203B41FA5}">
                      <a16:colId xmlns:a16="http://schemas.microsoft.com/office/drawing/2014/main" val="2628074529"/>
                    </a:ext>
                  </a:extLst>
                </a:gridCol>
              </a:tblGrid>
              <a:tr h="77082">
                <a:tc>
                  <a:txBody>
                    <a:bodyPr/>
                    <a:lstStyle/>
                    <a:p>
                      <a:pPr marL="0" marR="0" indent="0" algn="l">
                        <a:lnSpc>
                          <a:spcPct val="107000"/>
                        </a:lnSpc>
                        <a:spcBef>
                          <a:spcPts val="0"/>
                        </a:spcBef>
                        <a:spcAft>
                          <a:spcPts val="0"/>
                        </a:spcAft>
                      </a:pPr>
                      <a:r>
                        <a:rPr lang="en-US" sz="300" b="0" i="0" u="none" strike="noStrike" cap="none" dirty="0">
                          <a:solidFill>
                            <a:srgbClr val="000000"/>
                          </a:solidFill>
                          <a:effectLst/>
                          <a:latin typeface="Arial"/>
                          <a:cs typeface="Arial"/>
                          <a:sym typeface="Arial"/>
                        </a:rPr>
                        <a:t>Operation request</a:t>
                      </a:r>
                      <a:endParaRPr lang="en-US" sz="300" b="0" i="0" u="none" strike="noStrike" cap="none" dirty="0">
                        <a:solidFill>
                          <a:srgbClr val="000000"/>
                        </a:solidFill>
                        <a:effectLst/>
                        <a:latin typeface="Arial"/>
                        <a:ea typeface="Times New Roman" panose="02020603050405020304" pitchFamily="18" charset="0"/>
                        <a:cs typeface="Arial"/>
                        <a:sym typeface="Arial"/>
                      </a:endParaRPr>
                    </a:p>
                  </a:txBody>
                  <a:tcPr marL="0" marR="0" marT="9670" marB="0"/>
                </a:tc>
                <a:tc>
                  <a:txBody>
                    <a:bodyPr/>
                    <a:lstStyle/>
                    <a:p>
                      <a:pPr marL="0" marR="0" indent="0" algn="l">
                        <a:lnSpc>
                          <a:spcPct val="107000"/>
                        </a:lnSpc>
                        <a:spcBef>
                          <a:spcPts val="0"/>
                        </a:spcBef>
                        <a:spcAft>
                          <a:spcPts val="0"/>
                        </a:spcAft>
                      </a:pPr>
                      <a:r>
                        <a:rPr lang="en-US" sz="300" dirty="0">
                          <a:effectLst/>
                        </a:rPr>
                        <a:t>openEHR-EHR-INSTRUCTION.request-procedure.v0</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1906259924"/>
                  </a:ext>
                </a:extLst>
              </a:tr>
              <a:tr h="77082">
                <a:tc>
                  <a:txBody>
                    <a:bodyPr/>
                    <a:lstStyle/>
                    <a:p>
                      <a:pPr marL="0" marR="0" indent="0" algn="l">
                        <a:lnSpc>
                          <a:spcPct val="107000"/>
                        </a:lnSpc>
                        <a:spcBef>
                          <a:spcPts val="0"/>
                        </a:spcBef>
                        <a:spcAft>
                          <a:spcPts val="0"/>
                        </a:spcAft>
                      </a:pPr>
                      <a:r>
                        <a:rPr lang="en-US" sz="300" b="0" i="0" u="none" strike="noStrike" cap="none" dirty="0">
                          <a:solidFill>
                            <a:srgbClr val="000000"/>
                          </a:solidFill>
                          <a:effectLst/>
                          <a:latin typeface="Arial"/>
                          <a:cs typeface="Arial"/>
                          <a:sym typeface="Arial"/>
                        </a:rPr>
                        <a:t>Examination request</a:t>
                      </a:r>
                      <a:endParaRPr lang="en-US" sz="300" b="0" i="0" u="none" strike="noStrike" cap="none" dirty="0">
                        <a:solidFill>
                          <a:srgbClr val="000000"/>
                        </a:solidFill>
                        <a:effectLst/>
                        <a:latin typeface="Arial"/>
                        <a:ea typeface="Times New Roman" panose="02020603050405020304" pitchFamily="18" charset="0"/>
                        <a:cs typeface="Arial"/>
                        <a:sym typeface="Arial"/>
                      </a:endParaRPr>
                    </a:p>
                  </a:txBody>
                  <a:tcPr marL="0" marR="0" marT="9670" marB="0"/>
                </a:tc>
                <a:tc>
                  <a:txBody>
                    <a:bodyPr/>
                    <a:lstStyle/>
                    <a:p>
                      <a:pPr marL="0" marR="0" indent="0" algn="l">
                        <a:lnSpc>
                          <a:spcPct val="107000"/>
                        </a:lnSpc>
                        <a:spcBef>
                          <a:spcPts val="0"/>
                        </a:spcBef>
                        <a:spcAft>
                          <a:spcPts val="0"/>
                        </a:spcAft>
                      </a:pPr>
                      <a:r>
                        <a:rPr lang="en-US" sz="300" dirty="0">
                          <a:effectLst/>
                        </a:rPr>
                        <a:t>openEHR-EHR-OBSERVATION.imaging_exam.v0</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2289490985"/>
                  </a:ext>
                </a:extLst>
              </a:tr>
              <a:tr h="77082">
                <a:tc>
                  <a:txBody>
                    <a:bodyPr/>
                    <a:lstStyle/>
                    <a:p>
                      <a:pPr marL="0" marR="0" indent="0" algn="l">
                        <a:lnSpc>
                          <a:spcPct val="107000"/>
                        </a:lnSpc>
                        <a:spcBef>
                          <a:spcPts val="0"/>
                        </a:spcBef>
                        <a:spcAft>
                          <a:spcPts val="0"/>
                        </a:spcAft>
                      </a:pPr>
                      <a:r>
                        <a:rPr lang="en-US" sz="300" dirty="0">
                          <a:effectLst/>
                        </a:rPr>
                        <a:t>Examination process</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openEHR-EHR-ACTION.imaging_exam.v0</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353471825"/>
                  </a:ext>
                </a:extLst>
              </a:tr>
              <a:tr h="77082">
                <a:tc>
                  <a:txBody>
                    <a:bodyPr/>
                    <a:lstStyle/>
                    <a:p>
                      <a:pPr marL="0" marR="0" indent="0" algn="l">
                        <a:lnSpc>
                          <a:spcPct val="107000"/>
                        </a:lnSpc>
                        <a:spcBef>
                          <a:spcPts val="0"/>
                        </a:spcBef>
                        <a:spcAft>
                          <a:spcPts val="0"/>
                        </a:spcAft>
                      </a:pPr>
                      <a:r>
                        <a:rPr lang="en-US" sz="300" dirty="0">
                          <a:effectLst/>
                        </a:rPr>
                        <a:t>Diagnose</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tc>
                  <a:txBody>
                    <a:bodyPr/>
                    <a:lstStyle/>
                    <a:p>
                      <a:pPr marL="0" marR="0" indent="0" algn="l">
                        <a:lnSpc>
                          <a:spcPct val="107000"/>
                        </a:lnSpc>
                        <a:spcBef>
                          <a:spcPts val="0"/>
                        </a:spcBef>
                        <a:spcAft>
                          <a:spcPts val="0"/>
                        </a:spcAft>
                      </a:pPr>
                      <a:r>
                        <a:rPr lang="en-US" sz="300" dirty="0">
                          <a:effectLst/>
                        </a:rPr>
                        <a:t>openEHR-EHR-EVALUATION.problem_diagnosis.v1</a:t>
                      </a:r>
                      <a:endParaRPr lang="en-US" sz="4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9670" marB="0"/>
                </a:tc>
                <a:extLst>
                  <a:ext uri="{0D108BD9-81ED-4DB2-BD59-A6C34878D82A}">
                    <a16:rowId xmlns:a16="http://schemas.microsoft.com/office/drawing/2014/main" val="849881840"/>
                  </a:ext>
                </a:extLst>
              </a:tr>
            </a:tbl>
          </a:graphicData>
        </a:graphic>
      </p:graphicFrame>
    </p:spTree>
    <p:extLst>
      <p:ext uri="{BB962C8B-B14F-4D97-AF65-F5344CB8AC3E}">
        <p14:creationId xmlns:p14="http://schemas.microsoft.com/office/powerpoint/2010/main" val="203441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1"/>
          <p:cNvSpPr txBox="1">
            <a:spLocks noGrp="1"/>
          </p:cNvSpPr>
          <p:nvPr>
            <p:ph type="title"/>
          </p:nvPr>
        </p:nvSpPr>
        <p:spPr>
          <a:xfrm>
            <a:off x="826725" y="1307100"/>
            <a:ext cx="7490550" cy="25293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dirty="0"/>
              <a:t>Thanks for your attention!</a:t>
            </a:r>
            <a:endParaRPr dirty="0"/>
          </a:p>
        </p:txBody>
      </p:sp>
    </p:spTree>
    <p:extLst>
      <p:ext uri="{BB962C8B-B14F-4D97-AF65-F5344CB8AC3E}">
        <p14:creationId xmlns:p14="http://schemas.microsoft.com/office/powerpoint/2010/main" val="579754658"/>
      </p:ext>
    </p:extLst>
  </p:cSld>
  <p:clrMapOvr>
    <a:masterClrMapping/>
  </p:clrMapOvr>
</p:sld>
</file>

<file path=ppt/theme/theme1.xml><?xml version="1.0" encoding="utf-8"?>
<a:theme xmlns:a="http://schemas.openxmlformats.org/drawingml/2006/main" name="Animated Healthcare Center by Slidesgo">
  <a:themeElements>
    <a:clrScheme name="Simple Light">
      <a:dk1>
        <a:srgbClr val="252E47"/>
      </a:dk1>
      <a:lt1>
        <a:srgbClr val="FFFFFF"/>
      </a:lt1>
      <a:dk2>
        <a:srgbClr val="F8F5EC"/>
      </a:dk2>
      <a:lt2>
        <a:srgbClr val="ECE9E1"/>
      </a:lt2>
      <a:accent1>
        <a:srgbClr val="DADACE"/>
      </a:accent1>
      <a:accent2>
        <a:srgbClr val="FFFFFF"/>
      </a:accent2>
      <a:accent3>
        <a:srgbClr val="FFFFFF"/>
      </a:accent3>
      <a:accent4>
        <a:srgbClr val="FFFFFF"/>
      </a:accent4>
      <a:accent5>
        <a:srgbClr val="FFFFFF"/>
      </a:accent5>
      <a:accent6>
        <a:srgbClr val="FFFFFF"/>
      </a:accent6>
      <a:hlink>
        <a:srgbClr val="252E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TotalTime>
  <Words>1489</Words>
  <Application>Microsoft Office PowerPoint</Application>
  <PresentationFormat>On-screen Show (16:9)</PresentationFormat>
  <Paragraphs>175</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Exo</vt:lpstr>
      <vt:lpstr>Prata</vt:lpstr>
      <vt:lpstr>Roboto Condensed Light</vt:lpstr>
      <vt:lpstr>Times New Roman</vt:lpstr>
      <vt:lpstr>Animated Healthcare Center by Slidesgo</vt:lpstr>
      <vt:lpstr>Modeling EHR with the openEHR approach</vt:lpstr>
      <vt:lpstr>Introduction</vt:lpstr>
      <vt:lpstr>OpenEHR</vt:lpstr>
      <vt:lpstr>OpenEHR Approach Expansion</vt:lpstr>
      <vt:lpstr>Implementation</vt:lpstr>
      <vt:lpstr>Collecting data requirements</vt:lpstr>
      <vt:lpstr>Key accomplishments</vt:lpstr>
      <vt:lpstr>Normalizing data elements</vt:lpstr>
      <vt:lpstr>Key numbers</vt:lpstr>
      <vt:lpstr>Contents of this template</vt:lpstr>
      <vt:lpstr>Organizing domain concepts</vt:lpstr>
      <vt:lpstr>OpenEHR</vt:lpstr>
      <vt:lpstr>Searching corresponding archetypes</vt:lpstr>
      <vt:lpstr>PowerPoint Presentation</vt:lpstr>
      <vt:lpstr>Editing Archetypes</vt:lpstr>
      <vt:lpstr>PowerPoint Presentation</vt:lpstr>
      <vt:lpstr>PowerPoint Presentation</vt:lpstr>
      <vt:lpstr>Reviewing Archetypes</vt:lpstr>
      <vt:lpstr>PowerPoint Presentation</vt:lpstr>
      <vt:lpstr>Results</vt:lpstr>
      <vt:lpstr>PowerPoint Presentation</vt:lpstr>
      <vt:lpstr>The searched results of domain concepts </vt:lpstr>
      <vt:lpstr>Thanks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EHR with the openEHR approach</dc:title>
  <cp:lastModifiedBy>Mennatullah Mahmoud Amin</cp:lastModifiedBy>
  <cp:revision>34</cp:revision>
  <dcterms:modified xsi:type="dcterms:W3CDTF">2021-07-13T09:42:56Z</dcterms:modified>
</cp:coreProperties>
</file>